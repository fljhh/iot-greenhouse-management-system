
<file path=[Content_Types].xml><?xml version="1.0" encoding="utf-8"?>
<Types xmlns="http://schemas.openxmlformats.org/package/2006/content-types">
  <Default Extension="jpeg" ContentType="image/jpeg"/>
  <Default Extension="JPG" ContentType="image/.jpg"/>
  <Default Extension="png" ContentType="image/png"/>
  <Default Extension="emf" ContentType="image/x-e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63" r:id="rId5"/>
    <p:sldId id="264" r:id="rId6"/>
    <p:sldId id="265" r:id="rId7"/>
    <p:sldId id="278" r:id="rId8"/>
    <p:sldId id="281" r:id="rId9"/>
    <p:sldId id="282" r:id="rId10"/>
    <p:sldId id="279" r:id="rId11"/>
    <p:sldId id="284" r:id="rId12"/>
    <p:sldId id="283" r:id="rId13"/>
  </p:sldIdLst>
  <p:sldSz cx="12192000" cy="6858000"/>
  <p:notesSz cx="6858000" cy="9144000"/>
  <p:custDataLst>
    <p:tags r:id="rId17"/>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60" userDrawn="1">
          <p15:clr>
            <a:srgbClr val="A4A3A4"/>
          </p15:clr>
        </p15:guide>
        <p15:guide id="2" pos="287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092" autoAdjust="0"/>
  </p:normalViewPr>
  <p:slideViewPr>
    <p:cSldViewPr showGuides="1">
      <p:cViewPr>
        <p:scale>
          <a:sx n="66" d="100"/>
          <a:sy n="66" d="100"/>
        </p:scale>
        <p:origin x="360" y="213"/>
      </p:cViewPr>
      <p:guideLst>
        <p:guide orient="horz" pos="2260"/>
        <p:guide pos="2879"/>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7" Type="http://schemas.openxmlformats.org/officeDocument/2006/relationships/tags" Target="tags/tag2.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1.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15.png"/><Relationship Id="rId8" Type="http://schemas.openxmlformats.org/officeDocument/2006/relationships/image" Target="../media/image14.png"/><Relationship Id="rId7" Type="http://schemas.openxmlformats.org/officeDocument/2006/relationships/image" Target="../media/image13.emf"/><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image" Target="../media/image8.png"/><Relationship Id="rId13" Type="http://schemas.openxmlformats.org/officeDocument/2006/relationships/slideLayout" Target="../slideLayouts/slideLayout7.xml"/><Relationship Id="rId12" Type="http://schemas.openxmlformats.org/officeDocument/2006/relationships/image" Target="../media/image18.png"/><Relationship Id="rId11" Type="http://schemas.openxmlformats.org/officeDocument/2006/relationships/image" Target="../media/image17.png"/><Relationship Id="rId10" Type="http://schemas.openxmlformats.org/officeDocument/2006/relationships/image" Target="../media/image16.pn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9" Type="http://schemas.openxmlformats.org/officeDocument/2006/relationships/image" Target="../media/image26.png"/><Relationship Id="rId8" Type="http://schemas.openxmlformats.org/officeDocument/2006/relationships/image" Target="../media/image25.png"/><Relationship Id="rId7" Type="http://schemas.openxmlformats.org/officeDocument/2006/relationships/image" Target="../media/image24.png"/><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 Id="rId3" Type="http://schemas.openxmlformats.org/officeDocument/2006/relationships/image" Target="../media/image20.png"/><Relationship Id="rId2" Type="http://schemas.openxmlformats.org/officeDocument/2006/relationships/image" Target="../media/image19.png"/><Relationship Id="rId10" Type="http://schemas.openxmlformats.org/officeDocument/2006/relationships/slideLayout" Target="../slideLayouts/slideLayout7.xml"/><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image" Target="../media/image34.png"/><Relationship Id="rId8" Type="http://schemas.openxmlformats.org/officeDocument/2006/relationships/image" Target="../media/image33.png"/><Relationship Id="rId7" Type="http://schemas.openxmlformats.org/officeDocument/2006/relationships/image" Target="../media/image32.png"/><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3" Type="http://schemas.openxmlformats.org/officeDocument/2006/relationships/image" Target="../media/image28.png"/><Relationship Id="rId2" Type="http://schemas.openxmlformats.org/officeDocument/2006/relationships/image" Target="../media/image27.png"/><Relationship Id="rId10" Type="http://schemas.openxmlformats.org/officeDocument/2006/relationships/slideLayout" Target="../slideLayouts/slideLayout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image" Target="../media/image41.png"/><Relationship Id="rId7" Type="http://schemas.openxmlformats.org/officeDocument/2006/relationships/image" Target="../media/image40.png"/><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4.emf"/><Relationship Id="rId3" Type="http://schemas.openxmlformats.org/officeDocument/2006/relationships/image" Target="../media/image43.emf"/><Relationship Id="rId2" Type="http://schemas.openxmlformats.org/officeDocument/2006/relationships/image" Target="../media/image42.pn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image" Target="../media/image47.png"/><Relationship Id="rId3" Type="http://schemas.openxmlformats.org/officeDocument/2006/relationships/image" Target="../media/image46.png"/><Relationship Id="rId2" Type="http://schemas.openxmlformats.org/officeDocument/2006/relationships/image" Target="../media/image45.emf"/><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4" name="AutoShape 4"/>
          <p:cNvSpPr/>
          <p:nvPr/>
        </p:nvSpPr>
        <p:spPr>
          <a:xfrm>
            <a:off x="5305345" y="1888367"/>
            <a:ext cx="6102379" cy="1959893"/>
          </a:xfrm>
          <a:prstGeom prst="rect">
            <a:avLst/>
          </a:prstGeom>
        </p:spPr>
        <p:txBody>
          <a:bodyPr vert="horz" wrap="square" lIns="85725" tIns="85725" rIns="47625" bIns="85725" rtlCol="0" anchor="ctr" anchorCtr="0">
            <a:noAutofit/>
          </a:bodyPr>
          <a:lstStyle/>
          <a:p>
            <a:pPr algn="ctr">
              <a:lnSpc>
                <a:spcPct val="120000"/>
              </a:lnSpc>
              <a:spcBef>
                <a:spcPts val="375"/>
              </a:spcBef>
              <a:defRPr/>
            </a:pPr>
            <a:r>
              <a:rPr lang="en-US" sz="3600" b="1" dirty="0" err="1">
                <a:solidFill>
                  <a:srgbClr val="000000">
                    <a:alpha val="100000"/>
                  </a:srgbClr>
                </a:solidFill>
                <a:latin typeface="微软雅黑" panose="020B0503020204020204" charset="-122"/>
                <a:ea typeface="微软雅黑" panose="020B0503020204020204" charset="-122"/>
                <a:cs typeface="微软雅黑" panose="020B0503020204020204" charset="-122"/>
              </a:rPr>
              <a:t>基于物联网</a:t>
            </a:r>
            <a:r>
              <a:rPr lang="zh-CN" altLang="en-US" sz="3600" b="1" dirty="0">
                <a:solidFill>
                  <a:srgbClr val="000000">
                    <a:alpha val="100000"/>
                  </a:srgbClr>
                </a:solidFill>
                <a:latin typeface="微软雅黑" panose="020B0503020204020204" charset="-122"/>
                <a:ea typeface="微软雅黑" panose="020B0503020204020204" charset="-122"/>
                <a:cs typeface="微软雅黑" panose="020B0503020204020204" charset="-122"/>
              </a:rPr>
              <a:t>技术</a:t>
            </a:r>
            <a:r>
              <a:rPr lang="en-US" altLang="zh-CN" sz="3600" b="1" dirty="0" err="1">
                <a:solidFill>
                  <a:srgbClr val="000000">
                    <a:alpha val="100000"/>
                  </a:srgbClr>
                </a:solidFill>
                <a:latin typeface="微软雅黑" panose="020B0503020204020204" charset="-122"/>
                <a:ea typeface="微软雅黑" panose="020B0503020204020204" charset="-122"/>
                <a:cs typeface="微软雅黑" panose="020B0503020204020204" charset="-122"/>
              </a:rPr>
              <a:t>的农业大棚生产管理系统</a:t>
            </a:r>
            <a:r>
              <a:rPr lang="zh-CN" altLang="en-US" sz="3600" b="1" dirty="0">
                <a:solidFill>
                  <a:srgbClr val="000000">
                    <a:alpha val="100000"/>
                  </a:srgbClr>
                </a:solidFill>
                <a:latin typeface="微软雅黑" panose="020B0503020204020204" charset="-122"/>
                <a:ea typeface="微软雅黑" panose="020B0503020204020204" charset="-122"/>
                <a:cs typeface="微软雅黑" panose="020B0503020204020204" charset="-122"/>
              </a:rPr>
              <a:t>的设计与实现</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2" name="AutoShape 2"/>
          <p:cNvSpPr/>
          <p:nvPr/>
        </p:nvSpPr>
        <p:spPr>
          <a:xfrm>
            <a:off x="0" y="8128"/>
            <a:ext cx="2682240" cy="6851904"/>
          </a:xfrm>
          <a:prstGeom prst="rect">
            <a:avLst/>
          </a:prstGeom>
          <a:solidFill>
            <a:schemeClr val="accent1">
              <a:alpha val="100000"/>
            </a:schemeClr>
          </a:solidFill>
        </p:spPr>
      </p:sp>
      <p:grpSp>
        <p:nvGrpSpPr>
          <p:cNvPr id="3" name="Group 3"/>
          <p:cNvGrpSpPr/>
          <p:nvPr/>
        </p:nvGrpSpPr>
        <p:grpSpPr>
          <a:xfrm>
            <a:off x="1416406" y="2474265"/>
            <a:ext cx="2531669" cy="1919630"/>
            <a:chOff x="1416406" y="2474265"/>
            <a:chExt cx="2531669" cy="1919630"/>
          </a:xfrm>
        </p:grpSpPr>
        <p:sp>
          <p:nvSpPr>
            <p:cNvPr id="4" name="AutoShape 4"/>
            <p:cNvSpPr/>
            <p:nvPr/>
          </p:nvSpPr>
          <p:spPr>
            <a:xfrm>
              <a:off x="1722425" y="2474265"/>
              <a:ext cx="1919630" cy="1919630"/>
            </a:xfrm>
            <a:prstGeom prst="rect">
              <a:avLst/>
            </a:prstGeom>
            <a:solidFill>
              <a:schemeClr val="accent1">
                <a:alpha val="100000"/>
              </a:schemeClr>
            </a:solidFill>
          </p:spPr>
        </p:sp>
        <p:sp>
          <p:nvSpPr>
            <p:cNvPr id="5" name="TextBox 5"/>
            <p:cNvSpPr txBox="1"/>
            <p:nvPr/>
          </p:nvSpPr>
          <p:spPr>
            <a:xfrm>
              <a:off x="1416406" y="2921955"/>
              <a:ext cx="2531669" cy="859536"/>
            </a:xfrm>
            <a:prstGeom prst="rect">
              <a:avLst/>
            </a:prstGeom>
          </p:spPr>
          <p:txBody>
            <a:bodyPr vert="horz" wrap="square" lIns="85725" tIns="38100" rIns="85725" bIns="38100" rtlCol="0" anchor="t" anchorCtr="0">
              <a:spAutoFit/>
            </a:bodyPr>
            <a:lstStyle/>
            <a:p>
              <a:pPr algn="ctr">
                <a:lnSpc>
                  <a:spcPct val="80000"/>
                </a:lnSpc>
              </a:pPr>
              <a:r>
                <a:rPr lang="en-US" sz="6075">
                  <a:solidFill>
                    <a:srgbClr val="FFFFFF">
                      <a:alpha val="100000"/>
                    </a:srgbClr>
                  </a:solidFill>
                  <a:latin typeface="微软雅黑" panose="020B0503020204020204" charset="-122"/>
                  <a:ea typeface="微软雅黑" panose="020B0503020204020204" charset="-122"/>
                  <a:cs typeface="微软雅黑" panose="020B0503020204020204" charset="-122"/>
                </a:rPr>
                <a:t>目录</a:t>
              </a:r>
              <a:endParaRPr lang="en-US" sz="6075">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grpSp>
      <p:sp>
        <p:nvSpPr>
          <p:cNvPr id="6" name="AutoShape 6"/>
          <p:cNvSpPr/>
          <p:nvPr/>
        </p:nvSpPr>
        <p:spPr>
          <a:xfrm>
            <a:off x="5638202" y="869785"/>
            <a:ext cx="5117446" cy="5118431"/>
          </a:xfrm>
          <a:prstGeom prst="rect">
            <a:avLst/>
          </a:prstGeom>
        </p:spPr>
        <p:txBody>
          <a:bodyPr vert="horz" wrap="square" lIns="85725" tIns="85725" rIns="47625" bIns="85725" rtlCol="0" anchor="ctr" anchorCtr="0">
            <a:noAutofit/>
          </a:bodyPr>
          <a:lstStyle/>
          <a:p>
            <a:pPr marL="203200" lvl="0" indent="-203200" algn="l">
              <a:lnSpc>
                <a:spcPct val="150000"/>
              </a:lnSpc>
              <a:spcBef>
                <a:spcPts val="450"/>
              </a:spcBef>
              <a:buFont typeface="Arial" panose="020B0604020202020204"/>
              <a:buChar char="•"/>
              <a:defRPr/>
            </a:pPr>
            <a:r>
              <a:rPr lang="zh-CN" alt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rPr>
              <a:t>系统分析</a:t>
            </a:r>
            <a:endParaRPr 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endParaRPr>
          </a:p>
          <a:p>
            <a:pPr marL="203200" lvl="0" indent="-203200">
              <a:lnSpc>
                <a:spcPct val="150000"/>
              </a:lnSpc>
              <a:spcBef>
                <a:spcPts val="450"/>
              </a:spcBef>
              <a:buFont typeface="Arial" panose="020B0604020202020204"/>
              <a:buChar char="•"/>
            </a:pPr>
            <a:r>
              <a:rPr lang="zh-CN" alt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rPr>
              <a:t>系统总体设计</a:t>
            </a:r>
            <a:endParaRPr 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endParaRPr>
          </a:p>
          <a:p>
            <a:pPr marL="203200" lvl="0" indent="-203200">
              <a:lnSpc>
                <a:spcPct val="150000"/>
              </a:lnSpc>
              <a:spcBef>
                <a:spcPts val="450"/>
              </a:spcBef>
              <a:buFont typeface="Arial" panose="020B0604020202020204"/>
              <a:buChar char="•"/>
            </a:pPr>
            <a:r>
              <a:rPr lang="zh-CN" alt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rPr>
              <a:t>主要模块详细设计</a:t>
            </a:r>
            <a:endParaRPr lang="en-US" altLang="zh-CN" sz="2400" b="1" dirty="0">
              <a:solidFill>
                <a:srgbClr val="2C3F55">
                  <a:alpha val="100000"/>
                </a:srgbClr>
              </a:solidFill>
              <a:latin typeface="微软雅黑" panose="020B0503020204020204" charset="-122"/>
              <a:ea typeface="微软雅黑" panose="020B0503020204020204" charset="-122"/>
              <a:cs typeface="微软雅黑" panose="020B0503020204020204" charset="-122"/>
            </a:endParaRPr>
          </a:p>
          <a:p>
            <a:pPr marL="203200" lvl="0" indent="-203200">
              <a:lnSpc>
                <a:spcPct val="150000"/>
              </a:lnSpc>
              <a:spcBef>
                <a:spcPts val="450"/>
              </a:spcBef>
              <a:buFont typeface="Arial" panose="020B0604020202020204"/>
              <a:buChar char="•"/>
            </a:pPr>
            <a:r>
              <a:rPr lang="zh-CN" altLang="en-US" sz="2400" b="1" dirty="0">
                <a:solidFill>
                  <a:srgbClr val="2C3F55">
                    <a:alpha val="100000"/>
                  </a:srgbClr>
                </a:solidFill>
                <a:latin typeface="微软雅黑" panose="020B0503020204020204" charset="-122"/>
                <a:ea typeface="微软雅黑" panose="020B0503020204020204" charset="-122"/>
                <a:cs typeface="微软雅黑" panose="020B0503020204020204" charset="-122"/>
              </a:rPr>
              <a:t>系统测试</a:t>
            </a:r>
            <a:endParaRPr lang="en-US" altLang="zh-CN" sz="2400" b="1" dirty="0">
              <a:solidFill>
                <a:srgbClr val="2C3F55">
                  <a:alpha val="100000"/>
                </a:srgb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5" name="TextBox 5"/>
          <p:cNvSpPr txBox="1"/>
          <p:nvPr/>
        </p:nvSpPr>
        <p:spPr>
          <a:xfrm>
            <a:off x="749742" y="1086521"/>
            <a:ext cx="390525" cy="295275"/>
          </a:xfrm>
          <a:prstGeom prst="rect">
            <a:avLst/>
          </a:prstGeom>
        </p:spPr>
        <p:txBody>
          <a:bodyPr vert="horz" wrap="square" lIns="85725" tIns="38100" rIns="85725" bIns="38100" rtlCol="0" anchor="ctr" anchorCtr="1">
            <a:spAutoFit/>
          </a:bodyPr>
          <a:lstStyle/>
          <a:p>
            <a:pPr algn="ctr">
              <a:lnSpc>
                <a:spcPct val="80000"/>
              </a:lnSpc>
            </a:pPr>
            <a:r>
              <a:rPr lang="en-US" sz="1425">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lang="en-US" sz="1425">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1" name="AutoShape 11"/>
          <p:cNvSpPr/>
          <p:nvPr/>
        </p:nvSpPr>
        <p:spPr>
          <a:xfrm>
            <a:off x="1312066" y="1379313"/>
            <a:ext cx="10130191" cy="3878487"/>
          </a:xfrm>
          <a:prstGeom prst="rect">
            <a:avLst/>
          </a:prstGeom>
        </p:spPr>
        <p:txBody>
          <a:bodyPr vert="horz" wrap="square" lIns="85725" tIns="85725" rIns="47625" bIns="85725" rtlCol="0" anchor="t" anchorCtr="0">
            <a:noAutofit/>
          </a:bodyPr>
          <a:lstStyle/>
          <a:p>
            <a:pPr indent="457200" algn="just">
              <a:lnSpc>
                <a:spcPct val="150000"/>
              </a:lnSpc>
              <a:spcBef>
                <a:spcPts val="375"/>
              </a:spcBef>
              <a:defRPr/>
            </a:pPr>
            <a:endParaRPr lang="en-US" sz="1100" dirty="0"/>
          </a:p>
        </p:txBody>
      </p:sp>
      <p:grpSp>
        <p:nvGrpSpPr>
          <p:cNvPr id="16" name="Group 16"/>
          <p:cNvGrpSpPr/>
          <p:nvPr/>
        </p:nvGrpSpPr>
        <p:grpSpPr>
          <a:xfrm>
            <a:off x="454963" y="93878"/>
            <a:ext cx="10641129" cy="826316"/>
            <a:chOff x="454963" y="93878"/>
            <a:chExt cx="10641129" cy="826316"/>
          </a:xfrm>
        </p:grpSpPr>
        <p:sp>
          <p:nvSpPr>
            <p:cNvPr id="17" name="AutoShape 17"/>
            <p:cNvSpPr/>
            <p:nvPr/>
          </p:nvSpPr>
          <p:spPr>
            <a:xfrm>
              <a:off x="454963" y="331168"/>
              <a:ext cx="84147" cy="84147"/>
            </a:xfrm>
            <a:prstGeom prst="ellipse">
              <a:avLst/>
            </a:prstGeom>
            <a:solidFill>
              <a:schemeClr val="accent1">
                <a:alpha val="100000"/>
              </a:schemeClr>
            </a:solidFill>
          </p:spPr>
        </p:sp>
        <p:sp>
          <p:nvSpPr>
            <p:cNvPr id="18" name="AutoShape 18"/>
            <p:cNvSpPr/>
            <p:nvPr/>
          </p:nvSpPr>
          <p:spPr>
            <a:xfrm>
              <a:off x="575049" y="337743"/>
              <a:ext cx="78137" cy="78137"/>
            </a:xfrm>
            <a:prstGeom prst="ellipse">
              <a:avLst/>
            </a:prstGeom>
            <a:solidFill>
              <a:schemeClr val="accent1">
                <a:alpha val="80000"/>
              </a:schemeClr>
            </a:solidFill>
          </p:spPr>
        </p:sp>
        <p:sp>
          <p:nvSpPr>
            <p:cNvPr id="19" name="AutoShape 19"/>
            <p:cNvSpPr/>
            <p:nvPr/>
          </p:nvSpPr>
          <p:spPr>
            <a:xfrm>
              <a:off x="689125" y="339460"/>
              <a:ext cx="74704" cy="74704"/>
            </a:xfrm>
            <a:prstGeom prst="ellipse">
              <a:avLst/>
            </a:prstGeom>
            <a:solidFill>
              <a:schemeClr val="accent1">
                <a:alpha val="60000"/>
              </a:schemeClr>
            </a:solidFill>
          </p:spPr>
        </p:sp>
        <p:sp>
          <p:nvSpPr>
            <p:cNvPr id="20" name="AutoShape 20"/>
            <p:cNvSpPr/>
            <p:nvPr/>
          </p:nvSpPr>
          <p:spPr>
            <a:xfrm>
              <a:off x="799768" y="348430"/>
              <a:ext cx="69238" cy="69238"/>
            </a:xfrm>
            <a:prstGeom prst="ellipse">
              <a:avLst/>
            </a:prstGeom>
            <a:solidFill>
              <a:schemeClr val="accent1">
                <a:alpha val="40000"/>
              </a:schemeClr>
            </a:solidFill>
          </p:spPr>
        </p:sp>
        <p:sp>
          <p:nvSpPr>
            <p:cNvPr id="21" name="AutoShape 21"/>
            <p:cNvSpPr/>
            <p:nvPr/>
          </p:nvSpPr>
          <p:spPr>
            <a:xfrm>
              <a:off x="904945" y="344297"/>
              <a:ext cx="65594" cy="65594"/>
            </a:xfrm>
            <a:prstGeom prst="ellipse">
              <a:avLst/>
            </a:prstGeom>
            <a:solidFill>
              <a:schemeClr val="accent1">
                <a:alpha val="20000"/>
              </a:schemeClr>
            </a:solidFill>
          </p:spPr>
        </p:sp>
        <p:sp>
          <p:nvSpPr>
            <p:cNvPr id="22" name="AutoShape 22"/>
            <p:cNvSpPr/>
            <p:nvPr/>
          </p:nvSpPr>
          <p:spPr>
            <a:xfrm>
              <a:off x="454963" y="448942"/>
              <a:ext cx="84147" cy="84147"/>
            </a:xfrm>
            <a:prstGeom prst="ellipse">
              <a:avLst/>
            </a:prstGeom>
            <a:solidFill>
              <a:schemeClr val="accent1">
                <a:alpha val="100000"/>
              </a:schemeClr>
            </a:solidFill>
          </p:spPr>
        </p:sp>
        <p:sp>
          <p:nvSpPr>
            <p:cNvPr id="23" name="AutoShape 23"/>
            <p:cNvSpPr/>
            <p:nvPr/>
          </p:nvSpPr>
          <p:spPr>
            <a:xfrm>
              <a:off x="575049" y="455517"/>
              <a:ext cx="78137" cy="78137"/>
            </a:xfrm>
            <a:prstGeom prst="ellipse">
              <a:avLst/>
            </a:prstGeom>
            <a:solidFill>
              <a:schemeClr val="accent1">
                <a:alpha val="80000"/>
              </a:schemeClr>
            </a:solidFill>
          </p:spPr>
        </p:sp>
        <p:sp>
          <p:nvSpPr>
            <p:cNvPr id="24" name="AutoShape 24"/>
            <p:cNvSpPr/>
            <p:nvPr/>
          </p:nvSpPr>
          <p:spPr>
            <a:xfrm>
              <a:off x="689125" y="457233"/>
              <a:ext cx="74704" cy="74704"/>
            </a:xfrm>
            <a:prstGeom prst="ellipse">
              <a:avLst/>
            </a:prstGeom>
            <a:solidFill>
              <a:schemeClr val="accent1">
                <a:alpha val="60000"/>
              </a:schemeClr>
            </a:solidFill>
          </p:spPr>
        </p:sp>
        <p:sp>
          <p:nvSpPr>
            <p:cNvPr id="25" name="AutoShape 25"/>
            <p:cNvSpPr/>
            <p:nvPr/>
          </p:nvSpPr>
          <p:spPr>
            <a:xfrm>
              <a:off x="799768" y="466203"/>
              <a:ext cx="69238" cy="69238"/>
            </a:xfrm>
            <a:prstGeom prst="ellipse">
              <a:avLst/>
            </a:prstGeom>
            <a:solidFill>
              <a:schemeClr val="accent1">
                <a:alpha val="40000"/>
              </a:schemeClr>
            </a:solidFill>
          </p:spPr>
        </p:sp>
        <p:sp>
          <p:nvSpPr>
            <p:cNvPr id="26" name="AutoShape 26"/>
            <p:cNvSpPr/>
            <p:nvPr/>
          </p:nvSpPr>
          <p:spPr>
            <a:xfrm>
              <a:off x="904945" y="462070"/>
              <a:ext cx="65594" cy="65594"/>
            </a:xfrm>
            <a:prstGeom prst="ellipse">
              <a:avLst/>
            </a:prstGeom>
            <a:solidFill>
              <a:schemeClr val="accent1">
                <a:alpha val="20000"/>
              </a:schemeClr>
            </a:solidFill>
          </p:spPr>
        </p:sp>
        <p:sp>
          <p:nvSpPr>
            <p:cNvPr id="27" name="AutoShape 27"/>
            <p:cNvSpPr/>
            <p:nvPr/>
          </p:nvSpPr>
          <p:spPr>
            <a:xfrm>
              <a:off x="454963" y="566715"/>
              <a:ext cx="84147" cy="84147"/>
            </a:xfrm>
            <a:prstGeom prst="ellipse">
              <a:avLst/>
            </a:prstGeom>
            <a:solidFill>
              <a:schemeClr val="accent1">
                <a:alpha val="100000"/>
              </a:schemeClr>
            </a:solidFill>
          </p:spPr>
        </p:sp>
        <p:sp>
          <p:nvSpPr>
            <p:cNvPr id="28" name="AutoShape 28"/>
            <p:cNvSpPr/>
            <p:nvPr/>
          </p:nvSpPr>
          <p:spPr>
            <a:xfrm>
              <a:off x="575049" y="573291"/>
              <a:ext cx="78137" cy="78137"/>
            </a:xfrm>
            <a:prstGeom prst="ellipse">
              <a:avLst/>
            </a:prstGeom>
            <a:solidFill>
              <a:schemeClr val="accent1">
                <a:alpha val="80000"/>
              </a:schemeClr>
            </a:solidFill>
          </p:spPr>
        </p:sp>
        <p:sp>
          <p:nvSpPr>
            <p:cNvPr id="29" name="AutoShape 29"/>
            <p:cNvSpPr/>
            <p:nvPr/>
          </p:nvSpPr>
          <p:spPr>
            <a:xfrm>
              <a:off x="689125" y="575007"/>
              <a:ext cx="74704" cy="74704"/>
            </a:xfrm>
            <a:prstGeom prst="ellipse">
              <a:avLst/>
            </a:prstGeom>
            <a:solidFill>
              <a:schemeClr val="accent1">
                <a:alpha val="60000"/>
              </a:schemeClr>
            </a:solidFill>
          </p:spPr>
        </p:sp>
        <p:sp>
          <p:nvSpPr>
            <p:cNvPr id="30" name="AutoShape 30"/>
            <p:cNvSpPr/>
            <p:nvPr/>
          </p:nvSpPr>
          <p:spPr>
            <a:xfrm>
              <a:off x="799768" y="583977"/>
              <a:ext cx="69238" cy="69238"/>
            </a:xfrm>
            <a:prstGeom prst="ellipse">
              <a:avLst/>
            </a:prstGeom>
            <a:solidFill>
              <a:schemeClr val="accent1">
                <a:alpha val="40000"/>
              </a:schemeClr>
            </a:solidFill>
          </p:spPr>
        </p:sp>
        <p:sp>
          <p:nvSpPr>
            <p:cNvPr id="31" name="AutoShape 31"/>
            <p:cNvSpPr/>
            <p:nvPr/>
          </p:nvSpPr>
          <p:spPr>
            <a:xfrm>
              <a:off x="904945" y="579844"/>
              <a:ext cx="65594" cy="65594"/>
            </a:xfrm>
            <a:prstGeom prst="ellipse">
              <a:avLst/>
            </a:prstGeom>
            <a:solidFill>
              <a:schemeClr val="accent1">
                <a:alpha val="20000"/>
              </a:schemeClr>
            </a:solidFill>
          </p:spPr>
        </p:sp>
        <p:sp>
          <p:nvSpPr>
            <p:cNvPr id="32" name="AutoShape 32"/>
            <p:cNvSpPr/>
            <p:nvPr/>
          </p:nvSpPr>
          <p:spPr>
            <a:xfrm>
              <a:off x="454963" y="684489"/>
              <a:ext cx="84147" cy="84147"/>
            </a:xfrm>
            <a:prstGeom prst="ellipse">
              <a:avLst/>
            </a:prstGeom>
            <a:solidFill>
              <a:schemeClr val="accent1">
                <a:alpha val="100000"/>
              </a:schemeClr>
            </a:solidFill>
          </p:spPr>
        </p:sp>
        <p:sp>
          <p:nvSpPr>
            <p:cNvPr id="33" name="AutoShape 33"/>
            <p:cNvSpPr/>
            <p:nvPr/>
          </p:nvSpPr>
          <p:spPr>
            <a:xfrm>
              <a:off x="575049" y="691064"/>
              <a:ext cx="78137" cy="78137"/>
            </a:xfrm>
            <a:prstGeom prst="ellipse">
              <a:avLst/>
            </a:prstGeom>
            <a:solidFill>
              <a:schemeClr val="accent1">
                <a:alpha val="80000"/>
              </a:schemeClr>
            </a:solidFill>
          </p:spPr>
        </p:sp>
        <p:sp>
          <p:nvSpPr>
            <p:cNvPr id="34" name="AutoShape 34"/>
            <p:cNvSpPr/>
            <p:nvPr/>
          </p:nvSpPr>
          <p:spPr>
            <a:xfrm>
              <a:off x="689125" y="692781"/>
              <a:ext cx="74704" cy="74704"/>
            </a:xfrm>
            <a:prstGeom prst="ellipse">
              <a:avLst/>
            </a:prstGeom>
            <a:solidFill>
              <a:schemeClr val="accent1">
                <a:alpha val="60000"/>
              </a:schemeClr>
            </a:solidFill>
          </p:spPr>
        </p:sp>
        <p:sp>
          <p:nvSpPr>
            <p:cNvPr id="35" name="AutoShape 35"/>
            <p:cNvSpPr/>
            <p:nvPr/>
          </p:nvSpPr>
          <p:spPr>
            <a:xfrm>
              <a:off x="799768" y="701751"/>
              <a:ext cx="69238" cy="69238"/>
            </a:xfrm>
            <a:prstGeom prst="ellipse">
              <a:avLst/>
            </a:prstGeom>
            <a:solidFill>
              <a:schemeClr val="accent1">
                <a:alpha val="40000"/>
              </a:schemeClr>
            </a:solidFill>
          </p:spPr>
        </p:sp>
        <p:sp>
          <p:nvSpPr>
            <p:cNvPr id="36" name="AutoShape 36"/>
            <p:cNvSpPr/>
            <p:nvPr/>
          </p:nvSpPr>
          <p:spPr>
            <a:xfrm>
              <a:off x="904945" y="697618"/>
              <a:ext cx="65594" cy="65594"/>
            </a:xfrm>
            <a:prstGeom prst="ellipse">
              <a:avLst/>
            </a:prstGeom>
            <a:solidFill>
              <a:schemeClr val="accent1">
                <a:alpha val="20000"/>
              </a:schemeClr>
            </a:solidFill>
          </p:spPr>
        </p:sp>
        <p:sp>
          <p:nvSpPr>
            <p:cNvPr id="37" name="TextBox 37"/>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系统分析</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0" name="AutoShape 15"/>
          <p:cNvSpPr/>
          <p:nvPr>
            <p:custDataLst>
              <p:tags r:id="rId2"/>
            </p:custDataLst>
          </p:nvPr>
        </p:nvSpPr>
        <p:spPr>
          <a:xfrm>
            <a:off x="1714500" y="5695950"/>
            <a:ext cx="4086225" cy="762000"/>
          </a:xfrm>
          <a:prstGeom prst="rect">
            <a:avLst/>
          </a:prstGeom>
        </p:spPr>
        <p:txBody>
          <a:bodyPr vert="horz" wrap="square" lIns="85725" tIns="85725" rIns="47625" bIns="85725" rtlCol="0" anchor="t" anchorCtr="0">
            <a:noAutofit/>
          </a:bodyPr>
          <a:lstStyle/>
          <a:p>
            <a:pPr algn="just">
              <a:lnSpc>
                <a:spcPct val="150000"/>
              </a:lnSpc>
              <a:spcBef>
                <a:spcPts val="375"/>
              </a:spcBef>
              <a:defRPr/>
            </a:pPr>
            <a:endParaRPr lang="en-US" sz="1100"/>
          </a:p>
        </p:txBody>
      </p:sp>
      <p:sp>
        <p:nvSpPr>
          <p:cNvPr id="13" name="文本框 12"/>
          <p:cNvSpPr txBox="1"/>
          <p:nvPr/>
        </p:nvSpPr>
        <p:spPr>
          <a:xfrm>
            <a:off x="1312066" y="1028343"/>
            <a:ext cx="10001250" cy="4483535"/>
          </a:xfrm>
          <a:prstGeom prst="rect">
            <a:avLst/>
          </a:prstGeom>
          <a:noFill/>
        </p:spPr>
        <p:txBody>
          <a:bodyPr wrap="square">
            <a:spAutoFit/>
          </a:bodyPr>
          <a:lstStyle/>
          <a:p>
            <a:endParaRPr lang="zh-CN" altLang="en-US" dirty="0"/>
          </a:p>
          <a:p>
            <a:pPr>
              <a:lnSpc>
                <a:spcPct val="150000"/>
              </a:lnSpc>
            </a:pPr>
            <a:r>
              <a:rPr lang="zh-CN" altLang="en-US" sz="1500" dirty="0">
                <a:solidFill>
                  <a:schemeClr val="dk1">
                    <a:alpha val="100000"/>
                  </a:schemeClr>
                </a:solidFill>
                <a:latin typeface="微软雅黑" panose="020B0503020204020204" charset="-122"/>
                <a:ea typeface="微软雅黑" panose="020B0503020204020204" charset="-122"/>
              </a:rPr>
              <a:t>架构</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单片机</a:t>
            </a:r>
            <a:r>
              <a:rPr lang="en-US" altLang="zh-CN" sz="1500" dirty="0">
                <a:solidFill>
                  <a:schemeClr val="dk1">
                    <a:alpha val="100000"/>
                  </a:schemeClr>
                </a:solidFill>
                <a:latin typeface="微软雅黑" panose="020B0503020204020204" charset="-122"/>
                <a:ea typeface="微软雅黑" panose="020B0503020204020204" charset="-122"/>
              </a:rPr>
              <a:t>+</a:t>
            </a:r>
            <a:r>
              <a:rPr lang="en-US" altLang="zh-CN" sz="1500" dirty="0" err="1">
                <a:solidFill>
                  <a:schemeClr val="dk1">
                    <a:alpha val="100000"/>
                  </a:schemeClr>
                </a:solidFill>
                <a:latin typeface="微软雅黑" panose="020B0503020204020204" charset="-122"/>
                <a:ea typeface="微软雅黑" panose="020B0503020204020204" charset="-122"/>
              </a:rPr>
              <a:t>wifi+web</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管理中心</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zh-CN" altLang="en-US" sz="1500" dirty="0">
                <a:solidFill>
                  <a:schemeClr val="dk1">
                    <a:alpha val="100000"/>
                  </a:schemeClr>
                </a:solidFill>
                <a:latin typeface="微软雅黑" panose="020B0503020204020204" charset="-122"/>
                <a:ea typeface="微软雅黑" panose="020B0503020204020204" charset="-122"/>
              </a:rPr>
              <a:t>硬件</a:t>
            </a:r>
            <a:r>
              <a:rPr lang="en-US" altLang="zh-CN" sz="1500" dirty="0">
                <a:solidFill>
                  <a:schemeClr val="dk1">
                    <a:alpha val="100000"/>
                  </a:schemeClr>
                </a:solidFill>
                <a:latin typeface="微软雅黑" panose="020B0503020204020204" charset="-122"/>
                <a:ea typeface="微软雅黑" panose="020B0503020204020204" charset="-122"/>
              </a:rPr>
              <a:t>:</a:t>
            </a:r>
            <a:endParaRPr lang="en-US" altLang="zh-CN"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zh-CN" altLang="en-US" sz="1500" dirty="0">
                <a:solidFill>
                  <a:schemeClr val="dk1">
                    <a:alpha val="100000"/>
                  </a:schemeClr>
                </a:solidFill>
                <a:latin typeface="微软雅黑" panose="020B0503020204020204" charset="-122"/>
                <a:ea typeface="微软雅黑" panose="020B0503020204020204" charset="-122"/>
              </a:rPr>
              <a:t>终端节点</a:t>
            </a:r>
            <a:r>
              <a:rPr lang="en-US" altLang="zh-CN" sz="1500" dirty="0">
                <a:solidFill>
                  <a:schemeClr val="dk1">
                    <a:alpha val="100000"/>
                  </a:schemeClr>
                </a:solidFill>
                <a:latin typeface="微软雅黑" panose="020B0503020204020204" charset="-122"/>
                <a:ea typeface="微软雅黑" panose="020B0503020204020204" charset="-122"/>
              </a:rPr>
              <a:t>:stm32+lora+</a:t>
            </a:r>
            <a:r>
              <a:rPr lang="zh-CN" altLang="en-US" sz="1500" dirty="0">
                <a:solidFill>
                  <a:schemeClr val="dk1">
                    <a:alpha val="100000"/>
                  </a:schemeClr>
                </a:solidFill>
                <a:latin typeface="微软雅黑" panose="020B0503020204020204" charset="-122"/>
                <a:ea typeface="微软雅黑" panose="020B0503020204020204" charset="-122"/>
              </a:rPr>
              <a:t>环境温湿度</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土壤湿度</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光照</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继电器</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水泵</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补光灯</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风扇</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电机</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 esp32cam+ov2640</a:t>
            </a:r>
            <a:r>
              <a:rPr lang="zh-CN" altLang="en-US" sz="1500" dirty="0">
                <a:solidFill>
                  <a:schemeClr val="dk1">
                    <a:alpha val="100000"/>
                  </a:schemeClr>
                </a:solidFill>
                <a:latin typeface="微软雅黑" panose="020B0503020204020204" charset="-122"/>
                <a:ea typeface="微软雅黑" panose="020B0503020204020204" charset="-122"/>
              </a:rPr>
              <a:t>摄像头</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zh-CN" altLang="en-US" sz="1500" dirty="0">
                <a:solidFill>
                  <a:schemeClr val="dk1">
                    <a:alpha val="100000"/>
                  </a:schemeClr>
                </a:solidFill>
                <a:latin typeface="微软雅黑" panose="020B0503020204020204" charset="-122"/>
                <a:ea typeface="微软雅黑" panose="020B0503020204020204" charset="-122"/>
              </a:rPr>
              <a:t>传输节点：</a:t>
            </a:r>
            <a:r>
              <a:rPr lang="en-US" altLang="zh-CN" sz="1500" dirty="0">
                <a:solidFill>
                  <a:schemeClr val="dk1">
                    <a:alpha val="100000"/>
                  </a:schemeClr>
                </a:solidFill>
                <a:latin typeface="微软雅黑" panose="020B0503020204020204" charset="-122"/>
                <a:ea typeface="微软雅黑" panose="020B0503020204020204" charset="-122"/>
              </a:rPr>
              <a:t>stm32+lora+wifi</a:t>
            </a:r>
            <a:endParaRPr lang="en-US" altLang="zh-CN"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zh-CN" altLang="en-US" sz="1500" dirty="0">
                <a:solidFill>
                  <a:schemeClr val="dk1">
                    <a:alpha val="100000"/>
                  </a:schemeClr>
                </a:solidFill>
                <a:latin typeface="微软雅黑" panose="020B0503020204020204" charset="-122"/>
                <a:ea typeface="微软雅黑" panose="020B0503020204020204" charset="-122"/>
              </a:rPr>
              <a:t>实现功能：</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1.</a:t>
            </a:r>
            <a:r>
              <a:rPr lang="zh-CN" altLang="en-US" sz="1500" dirty="0">
                <a:solidFill>
                  <a:schemeClr val="dk1">
                    <a:alpha val="100000"/>
                  </a:schemeClr>
                </a:solidFill>
                <a:latin typeface="微软雅黑" panose="020B0503020204020204" charset="-122"/>
                <a:ea typeface="微软雅黑" panose="020B0503020204020204" charset="-122"/>
              </a:rPr>
              <a:t>实现大棚内环境的各项数据采集</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土壤湿度，湿湿度，光照并显示在</a:t>
            </a:r>
            <a:r>
              <a:rPr lang="en-US" altLang="zh-CN" sz="1500" dirty="0">
                <a:solidFill>
                  <a:schemeClr val="dk1">
                    <a:alpha val="100000"/>
                  </a:schemeClr>
                </a:solidFill>
                <a:latin typeface="微软雅黑" panose="020B0503020204020204" charset="-122"/>
                <a:ea typeface="微软雅黑" panose="020B0503020204020204" charset="-122"/>
              </a:rPr>
              <a:t>web</a:t>
            </a:r>
            <a:r>
              <a:rPr lang="zh-CN" altLang="en-US" sz="1500" dirty="0">
                <a:solidFill>
                  <a:schemeClr val="dk1">
                    <a:alpha val="100000"/>
                  </a:schemeClr>
                </a:solidFill>
                <a:latin typeface="微软雅黑" panose="020B0503020204020204" charset="-122"/>
                <a:ea typeface="微软雅黑" panose="020B0503020204020204" charset="-122"/>
              </a:rPr>
              <a:t>管理中心</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2</a:t>
            </a:r>
            <a:r>
              <a:rPr lang="zh-CN" altLang="en-US" sz="1500" dirty="0">
                <a:solidFill>
                  <a:schemeClr val="dk1">
                    <a:alpha val="100000"/>
                  </a:schemeClr>
                </a:solidFill>
                <a:latin typeface="微软雅黑" panose="020B0503020204020204" charset="-122"/>
                <a:ea typeface="微软雅黑" panose="020B0503020204020204" charset="-122"/>
              </a:rPr>
              <a:t>实现各个执行设备的单独控制</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遮阳电机，喷灌水泵</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补光灯</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3.</a:t>
            </a:r>
            <a:r>
              <a:rPr lang="zh-CN" altLang="en-US" sz="1500" dirty="0">
                <a:solidFill>
                  <a:schemeClr val="dk1">
                    <a:alpha val="100000"/>
                  </a:schemeClr>
                </a:solidFill>
                <a:latin typeface="微软雅黑" panose="020B0503020204020204" charset="-122"/>
                <a:ea typeface="微软雅黑" panose="020B0503020204020204" charset="-122"/>
              </a:rPr>
              <a:t>设定阈值实现数据的自动调控</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温度阈值、干早阈值、光照过强阈值。光照不足阈值</a:t>
            </a:r>
            <a:endParaRPr lang="en-US" altLang="zh-CN"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4.</a:t>
            </a:r>
            <a:r>
              <a:rPr lang="zh-CN" altLang="en-US" sz="1500" dirty="0">
                <a:solidFill>
                  <a:schemeClr val="dk1">
                    <a:alpha val="100000"/>
                  </a:schemeClr>
                </a:solidFill>
                <a:latin typeface="微软雅黑" panose="020B0503020204020204" charset="-122"/>
                <a:ea typeface="微软雅黑" panose="020B0503020204020204" charset="-122"/>
              </a:rPr>
              <a:t>自动调控</a:t>
            </a:r>
            <a:r>
              <a:rPr lang="en-US" altLang="zh-CN" sz="1500" dirty="0">
                <a:solidFill>
                  <a:schemeClr val="dk1">
                    <a:alpha val="100000"/>
                  </a:schemeClr>
                </a:solidFill>
                <a:latin typeface="微软雅黑" panose="020B0503020204020204" charset="-122"/>
                <a:ea typeface="微软雅黑" panose="020B0503020204020204" charset="-122"/>
              </a:rPr>
              <a:t>:</a:t>
            </a:r>
            <a:r>
              <a:rPr lang="zh-CN" altLang="en-US" sz="1500" dirty="0">
                <a:solidFill>
                  <a:schemeClr val="dk1">
                    <a:alpha val="100000"/>
                  </a:schemeClr>
                </a:solidFill>
                <a:latin typeface="微软雅黑" panose="020B0503020204020204" charset="-122"/>
                <a:ea typeface="微软雅黑" panose="020B0503020204020204" charset="-122"/>
              </a:rPr>
              <a:t>干旱白动喷灌，光照过强开遮阳板，光照不足开补光灯，高温开风扇</a:t>
            </a:r>
            <a:endParaRPr lang="en-US" altLang="zh-CN"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5.</a:t>
            </a:r>
            <a:r>
              <a:rPr lang="zh-CN" altLang="en-US" sz="1500" dirty="0">
                <a:solidFill>
                  <a:schemeClr val="dk1">
                    <a:alpha val="100000"/>
                  </a:schemeClr>
                </a:solidFill>
                <a:latin typeface="微软雅黑" panose="020B0503020204020204" charset="-122"/>
                <a:ea typeface="微软雅黑" panose="020B0503020204020204" charset="-122"/>
              </a:rPr>
              <a:t>实现实时视频监控和拍照</a:t>
            </a:r>
            <a:endParaRPr lang="zh-CN" altLang="en-US" sz="1500" dirty="0">
              <a:solidFill>
                <a:schemeClr val="dk1">
                  <a:alpha val="100000"/>
                </a:schemeClr>
              </a:solidFill>
              <a:latin typeface="微软雅黑" panose="020B0503020204020204" charset="-122"/>
              <a:ea typeface="微软雅黑" panose="020B0503020204020204" charset="-122"/>
            </a:endParaRPr>
          </a:p>
          <a:p>
            <a:pPr>
              <a:lnSpc>
                <a:spcPct val="150000"/>
              </a:lnSpc>
            </a:pPr>
            <a:r>
              <a:rPr lang="en-US" altLang="zh-CN" sz="1500" dirty="0">
                <a:solidFill>
                  <a:schemeClr val="dk1">
                    <a:alpha val="100000"/>
                  </a:schemeClr>
                </a:solidFill>
                <a:latin typeface="微软雅黑" panose="020B0503020204020204" charset="-122"/>
                <a:ea typeface="微软雅黑" panose="020B0503020204020204" charset="-122"/>
              </a:rPr>
              <a:t>6.</a:t>
            </a:r>
            <a:r>
              <a:rPr lang="zh-CN" altLang="en-US" sz="1500" dirty="0">
                <a:solidFill>
                  <a:schemeClr val="dk1">
                    <a:alpha val="100000"/>
                  </a:schemeClr>
                </a:solidFill>
                <a:latin typeface="微软雅黑" panose="020B0503020204020204" charset="-122"/>
                <a:ea typeface="微软雅黑" panose="020B0503020204020204" charset="-122"/>
              </a:rPr>
              <a:t>终端节点和传输节点之间的无线</a:t>
            </a:r>
            <a:r>
              <a:rPr lang="en-US" altLang="zh-CN" sz="1500" dirty="0">
                <a:solidFill>
                  <a:schemeClr val="dk1">
                    <a:alpha val="100000"/>
                  </a:schemeClr>
                </a:solidFill>
                <a:latin typeface="微软雅黑" panose="020B0503020204020204" charset="-122"/>
                <a:ea typeface="微软雅黑" panose="020B0503020204020204" charset="-122"/>
              </a:rPr>
              <a:t>lora</a:t>
            </a:r>
            <a:r>
              <a:rPr lang="zh-CN" altLang="en-US" sz="1500" dirty="0">
                <a:solidFill>
                  <a:schemeClr val="dk1">
                    <a:alpha val="100000"/>
                  </a:schemeClr>
                </a:solidFill>
                <a:latin typeface="微软雅黑" panose="020B0503020204020204" charset="-122"/>
                <a:ea typeface="微软雅黑" panose="020B0503020204020204" charset="-122"/>
              </a:rPr>
              <a:t>远程通讯，传输节点通过</a:t>
            </a:r>
            <a:r>
              <a:rPr lang="en-US" altLang="zh-CN" sz="1500" dirty="0" err="1">
                <a:solidFill>
                  <a:schemeClr val="dk1">
                    <a:alpha val="100000"/>
                  </a:schemeClr>
                </a:solidFill>
                <a:latin typeface="微软雅黑" panose="020B0503020204020204" charset="-122"/>
                <a:ea typeface="微软雅黑" panose="020B0503020204020204" charset="-122"/>
              </a:rPr>
              <a:t>wifi</a:t>
            </a:r>
            <a:r>
              <a:rPr lang="zh-CN" altLang="en-US" sz="1500" dirty="0">
                <a:solidFill>
                  <a:schemeClr val="dk1">
                    <a:alpha val="100000"/>
                  </a:schemeClr>
                </a:solidFill>
                <a:latin typeface="微软雅黑" panose="020B0503020204020204" charset="-122"/>
                <a:ea typeface="微软雅黑" panose="020B0503020204020204" charset="-122"/>
              </a:rPr>
              <a:t>实现与</a:t>
            </a:r>
            <a:r>
              <a:rPr lang="en-US" altLang="zh-CN" sz="1500" dirty="0">
                <a:solidFill>
                  <a:schemeClr val="dk1">
                    <a:alpha val="100000"/>
                  </a:schemeClr>
                </a:solidFill>
                <a:latin typeface="微软雅黑" panose="020B0503020204020204" charset="-122"/>
                <a:ea typeface="微软雅黑" panose="020B0503020204020204" charset="-122"/>
              </a:rPr>
              <a:t>Web</a:t>
            </a:r>
            <a:r>
              <a:rPr lang="zh-CN" altLang="en-US" sz="1500" dirty="0">
                <a:solidFill>
                  <a:schemeClr val="dk1">
                    <a:alpha val="100000"/>
                  </a:schemeClr>
                </a:solidFill>
                <a:latin typeface="微软雅黑" panose="020B0503020204020204" charset="-122"/>
                <a:ea typeface="微软雅黑" panose="020B0503020204020204" charset="-122"/>
              </a:rPr>
              <a:t>的数据通信</a:t>
            </a:r>
            <a:endParaRPr lang="zh-CN" altLang="en-US" sz="1500" dirty="0">
              <a:solidFill>
                <a:schemeClr val="dk1">
                  <a:alpha val="100000"/>
                </a:schemeClr>
              </a:solidFill>
              <a:latin typeface="微软雅黑" panose="020B0503020204020204" charset="-122"/>
              <a:ea typeface="微软雅黑" panose="020B0503020204020204"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11" name="AutoShape 11"/>
          <p:cNvSpPr/>
          <p:nvPr/>
        </p:nvSpPr>
        <p:spPr>
          <a:xfrm>
            <a:off x="396996" y="969666"/>
            <a:ext cx="584258" cy="584258"/>
          </a:xfrm>
          <a:prstGeom prst="ellipse">
            <a:avLst/>
          </a:prstGeom>
          <a:ln w="19050">
            <a:solidFill>
              <a:schemeClr val="accent1">
                <a:alpha val="100000"/>
              </a:schemeClr>
            </a:solidFill>
            <a:prstDash val="solid"/>
          </a:ln>
        </p:spPr>
        <p:style>
          <a:lnRef idx="0">
            <a:schemeClr val="accent1"/>
          </a:lnRef>
          <a:fillRef idx="1">
            <a:schemeClr val="accent1"/>
          </a:fillRef>
          <a:effectRef idx="0">
            <a:schemeClr val="accent1"/>
          </a:effectRef>
          <a:fontRef idx="minor">
            <a:schemeClr val="lt1"/>
          </a:fontRef>
        </p:style>
        <p:txBody>
          <a:bodyPr/>
          <a:lstStyle/>
          <a:p>
            <a:endParaRPr lang="zh-CN" altLang="en-US"/>
          </a:p>
        </p:txBody>
      </p:sp>
      <p:sp>
        <p:nvSpPr>
          <p:cNvPr id="14" name="TextBox 14"/>
          <p:cNvSpPr txBox="1"/>
          <p:nvPr/>
        </p:nvSpPr>
        <p:spPr>
          <a:xfrm>
            <a:off x="981254" y="1064287"/>
            <a:ext cx="1866265"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系统功能设计</a:t>
            </a:r>
            <a:endParaRPr lang="en-US" altLang="zh-CN"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5" name="AutoShape 15"/>
          <p:cNvSpPr/>
          <p:nvPr/>
        </p:nvSpPr>
        <p:spPr>
          <a:xfrm>
            <a:off x="398522" y="3845602"/>
            <a:ext cx="584258" cy="584258"/>
          </a:xfrm>
          <a:prstGeom prst="ellipse">
            <a:avLst/>
          </a:prstGeom>
          <a:ln w="19050">
            <a:solidFill>
              <a:schemeClr val="accent2">
                <a:alpha val="100000"/>
              </a:schemeClr>
            </a:solidFill>
            <a:prstDash val="solid"/>
          </a:ln>
        </p:spPr>
        <p:style>
          <a:lnRef idx="0">
            <a:schemeClr val="accent2"/>
          </a:lnRef>
          <a:fillRef idx="1">
            <a:schemeClr val="accent2"/>
          </a:fillRef>
          <a:effectRef idx="0">
            <a:schemeClr val="accent2"/>
          </a:effectRef>
          <a:fontRef idx="minor">
            <a:schemeClr val="lt1"/>
          </a:fontRef>
        </p:style>
        <p:txBody>
          <a:bodyPr/>
          <a:lstStyle/>
          <a:p>
            <a:endParaRPr lang="zh-CN" altLang="en-US"/>
          </a:p>
        </p:txBody>
      </p:sp>
      <p:sp>
        <p:nvSpPr>
          <p:cNvPr id="16" name="AutoShape 16"/>
          <p:cNvSpPr/>
          <p:nvPr/>
        </p:nvSpPr>
        <p:spPr>
          <a:xfrm>
            <a:off x="346852" y="3581395"/>
            <a:ext cx="453011" cy="368935"/>
          </a:xfrm>
          <a:prstGeom prst="rect">
            <a:avLst/>
          </a:prstGeom>
        </p:spPr>
        <p:txBody>
          <a:bodyPr vert="horz" wrap="square" lIns="0" tIns="0" rIns="0" bIns="0" rtlCol="0" anchor="t" anchorCtr="0">
            <a:noAutofit/>
          </a:bodyPr>
          <a:lstStyle/>
          <a:p>
            <a:pPr algn="ctr">
              <a:lnSpc>
                <a:spcPct val="120000"/>
              </a:lnSpc>
              <a:spcBef>
                <a:spcPct val="20000"/>
              </a:spcBef>
              <a:defRPr/>
            </a:pPr>
            <a:endParaRPr lang="en-US" sz="1100"/>
          </a:p>
        </p:txBody>
      </p:sp>
      <p:sp>
        <p:nvSpPr>
          <p:cNvPr id="18" name="TextBox 18"/>
          <p:cNvSpPr txBox="1"/>
          <p:nvPr/>
        </p:nvSpPr>
        <p:spPr>
          <a:xfrm>
            <a:off x="937742" y="4002883"/>
            <a:ext cx="1772331"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2">
                    <a:alpha val="100000"/>
                  </a:schemeClr>
                </a:solidFill>
                <a:latin typeface="微软雅黑" panose="020B0503020204020204" charset="-122"/>
                <a:ea typeface="微软雅黑" panose="020B0503020204020204" charset="-122"/>
                <a:cs typeface="微软雅黑" panose="020B0503020204020204" charset="-122"/>
              </a:rPr>
              <a:t>数据库设计</a:t>
            </a:r>
            <a:endParaRPr lang="en-US" sz="1575" b="1" dirty="0">
              <a:solidFill>
                <a:schemeClr val="accent2">
                  <a:alpha val="100000"/>
                </a:schemeClr>
              </a:solidFill>
              <a:latin typeface="微软雅黑" panose="020B0503020204020204" charset="-122"/>
              <a:ea typeface="微软雅黑" panose="020B0503020204020204" charset="-122"/>
              <a:cs typeface="微软雅黑" panose="020B0503020204020204" charset="-122"/>
            </a:endParaRPr>
          </a:p>
        </p:txBody>
      </p:sp>
      <p:grpSp>
        <p:nvGrpSpPr>
          <p:cNvPr id="23" name="Group 23"/>
          <p:cNvGrpSpPr/>
          <p:nvPr/>
        </p:nvGrpSpPr>
        <p:grpSpPr>
          <a:xfrm>
            <a:off x="454963" y="93878"/>
            <a:ext cx="10641129" cy="826316"/>
            <a:chOff x="454963" y="93878"/>
            <a:chExt cx="10641129" cy="826316"/>
          </a:xfrm>
        </p:grpSpPr>
        <p:sp>
          <p:nvSpPr>
            <p:cNvPr id="24" name="AutoShape 24"/>
            <p:cNvSpPr/>
            <p:nvPr/>
          </p:nvSpPr>
          <p:spPr>
            <a:xfrm>
              <a:off x="454963" y="331168"/>
              <a:ext cx="84147" cy="84147"/>
            </a:xfrm>
            <a:prstGeom prst="ellipse">
              <a:avLst/>
            </a:prstGeom>
            <a:solidFill>
              <a:schemeClr val="accent1">
                <a:alpha val="100000"/>
              </a:schemeClr>
            </a:solidFill>
          </p:spPr>
        </p:sp>
        <p:sp>
          <p:nvSpPr>
            <p:cNvPr id="25" name="AutoShape 25"/>
            <p:cNvSpPr/>
            <p:nvPr/>
          </p:nvSpPr>
          <p:spPr>
            <a:xfrm>
              <a:off x="575049" y="337743"/>
              <a:ext cx="78137" cy="78137"/>
            </a:xfrm>
            <a:prstGeom prst="ellipse">
              <a:avLst/>
            </a:prstGeom>
            <a:solidFill>
              <a:schemeClr val="accent1">
                <a:alpha val="80000"/>
              </a:schemeClr>
            </a:solidFill>
          </p:spPr>
        </p:sp>
        <p:sp>
          <p:nvSpPr>
            <p:cNvPr id="26" name="AutoShape 26"/>
            <p:cNvSpPr/>
            <p:nvPr/>
          </p:nvSpPr>
          <p:spPr>
            <a:xfrm>
              <a:off x="689125" y="339460"/>
              <a:ext cx="74704" cy="74704"/>
            </a:xfrm>
            <a:prstGeom prst="ellipse">
              <a:avLst/>
            </a:prstGeom>
            <a:solidFill>
              <a:schemeClr val="accent1">
                <a:alpha val="60000"/>
              </a:schemeClr>
            </a:solidFill>
          </p:spPr>
        </p:sp>
        <p:sp>
          <p:nvSpPr>
            <p:cNvPr id="27" name="AutoShape 27"/>
            <p:cNvSpPr/>
            <p:nvPr/>
          </p:nvSpPr>
          <p:spPr>
            <a:xfrm>
              <a:off x="799768" y="348430"/>
              <a:ext cx="69238" cy="69238"/>
            </a:xfrm>
            <a:prstGeom prst="ellipse">
              <a:avLst/>
            </a:prstGeom>
            <a:solidFill>
              <a:schemeClr val="accent1">
                <a:alpha val="40000"/>
              </a:schemeClr>
            </a:solidFill>
          </p:spPr>
        </p:sp>
        <p:sp>
          <p:nvSpPr>
            <p:cNvPr id="28" name="AutoShape 28"/>
            <p:cNvSpPr/>
            <p:nvPr/>
          </p:nvSpPr>
          <p:spPr>
            <a:xfrm>
              <a:off x="904945" y="344297"/>
              <a:ext cx="65594" cy="65594"/>
            </a:xfrm>
            <a:prstGeom prst="ellipse">
              <a:avLst/>
            </a:prstGeom>
            <a:solidFill>
              <a:schemeClr val="accent1">
                <a:alpha val="20000"/>
              </a:schemeClr>
            </a:solidFill>
          </p:spPr>
        </p:sp>
        <p:sp>
          <p:nvSpPr>
            <p:cNvPr id="29" name="AutoShape 29"/>
            <p:cNvSpPr/>
            <p:nvPr/>
          </p:nvSpPr>
          <p:spPr>
            <a:xfrm>
              <a:off x="454963" y="448942"/>
              <a:ext cx="84147" cy="84147"/>
            </a:xfrm>
            <a:prstGeom prst="ellipse">
              <a:avLst/>
            </a:prstGeom>
            <a:solidFill>
              <a:schemeClr val="accent1">
                <a:alpha val="100000"/>
              </a:schemeClr>
            </a:solidFill>
          </p:spPr>
        </p:sp>
        <p:sp>
          <p:nvSpPr>
            <p:cNvPr id="30" name="AutoShape 30"/>
            <p:cNvSpPr/>
            <p:nvPr/>
          </p:nvSpPr>
          <p:spPr>
            <a:xfrm>
              <a:off x="575049" y="455517"/>
              <a:ext cx="78137" cy="78137"/>
            </a:xfrm>
            <a:prstGeom prst="ellipse">
              <a:avLst/>
            </a:prstGeom>
            <a:solidFill>
              <a:schemeClr val="accent1">
                <a:alpha val="80000"/>
              </a:schemeClr>
            </a:solidFill>
          </p:spPr>
        </p:sp>
        <p:sp>
          <p:nvSpPr>
            <p:cNvPr id="31" name="AutoShape 31"/>
            <p:cNvSpPr/>
            <p:nvPr/>
          </p:nvSpPr>
          <p:spPr>
            <a:xfrm>
              <a:off x="689125" y="457233"/>
              <a:ext cx="74704" cy="74704"/>
            </a:xfrm>
            <a:prstGeom prst="ellipse">
              <a:avLst/>
            </a:prstGeom>
            <a:solidFill>
              <a:schemeClr val="accent1">
                <a:alpha val="60000"/>
              </a:schemeClr>
            </a:solidFill>
          </p:spPr>
        </p:sp>
        <p:sp>
          <p:nvSpPr>
            <p:cNvPr id="32" name="AutoShape 32"/>
            <p:cNvSpPr/>
            <p:nvPr/>
          </p:nvSpPr>
          <p:spPr>
            <a:xfrm>
              <a:off x="799768" y="466203"/>
              <a:ext cx="69238" cy="69238"/>
            </a:xfrm>
            <a:prstGeom prst="ellipse">
              <a:avLst/>
            </a:prstGeom>
            <a:solidFill>
              <a:schemeClr val="accent1">
                <a:alpha val="40000"/>
              </a:schemeClr>
            </a:solidFill>
          </p:spPr>
        </p:sp>
        <p:sp>
          <p:nvSpPr>
            <p:cNvPr id="33" name="AutoShape 33"/>
            <p:cNvSpPr/>
            <p:nvPr/>
          </p:nvSpPr>
          <p:spPr>
            <a:xfrm>
              <a:off x="904945" y="462070"/>
              <a:ext cx="65594" cy="65594"/>
            </a:xfrm>
            <a:prstGeom prst="ellipse">
              <a:avLst/>
            </a:prstGeom>
            <a:solidFill>
              <a:schemeClr val="accent1">
                <a:alpha val="20000"/>
              </a:schemeClr>
            </a:solidFill>
          </p:spPr>
        </p:sp>
        <p:sp>
          <p:nvSpPr>
            <p:cNvPr id="34" name="AutoShape 34"/>
            <p:cNvSpPr/>
            <p:nvPr/>
          </p:nvSpPr>
          <p:spPr>
            <a:xfrm>
              <a:off x="454963" y="566715"/>
              <a:ext cx="84147" cy="84147"/>
            </a:xfrm>
            <a:prstGeom prst="ellipse">
              <a:avLst/>
            </a:prstGeom>
            <a:solidFill>
              <a:schemeClr val="accent1">
                <a:alpha val="100000"/>
              </a:schemeClr>
            </a:solidFill>
          </p:spPr>
        </p:sp>
        <p:sp>
          <p:nvSpPr>
            <p:cNvPr id="35" name="AutoShape 35"/>
            <p:cNvSpPr/>
            <p:nvPr/>
          </p:nvSpPr>
          <p:spPr>
            <a:xfrm>
              <a:off x="575049" y="573291"/>
              <a:ext cx="78137" cy="78137"/>
            </a:xfrm>
            <a:prstGeom prst="ellipse">
              <a:avLst/>
            </a:prstGeom>
            <a:solidFill>
              <a:schemeClr val="accent1">
                <a:alpha val="80000"/>
              </a:schemeClr>
            </a:solidFill>
          </p:spPr>
        </p:sp>
        <p:sp>
          <p:nvSpPr>
            <p:cNvPr id="36" name="AutoShape 36"/>
            <p:cNvSpPr/>
            <p:nvPr/>
          </p:nvSpPr>
          <p:spPr>
            <a:xfrm>
              <a:off x="689125" y="575007"/>
              <a:ext cx="74704" cy="74704"/>
            </a:xfrm>
            <a:prstGeom prst="ellipse">
              <a:avLst/>
            </a:prstGeom>
            <a:solidFill>
              <a:schemeClr val="accent1">
                <a:alpha val="60000"/>
              </a:schemeClr>
            </a:solidFill>
          </p:spPr>
        </p:sp>
        <p:sp>
          <p:nvSpPr>
            <p:cNvPr id="37" name="AutoShape 37"/>
            <p:cNvSpPr/>
            <p:nvPr/>
          </p:nvSpPr>
          <p:spPr>
            <a:xfrm>
              <a:off x="799768" y="583977"/>
              <a:ext cx="69238" cy="69238"/>
            </a:xfrm>
            <a:prstGeom prst="ellipse">
              <a:avLst/>
            </a:prstGeom>
            <a:solidFill>
              <a:schemeClr val="accent1">
                <a:alpha val="40000"/>
              </a:schemeClr>
            </a:solidFill>
          </p:spPr>
        </p:sp>
        <p:sp>
          <p:nvSpPr>
            <p:cNvPr id="38" name="AutoShape 38"/>
            <p:cNvSpPr/>
            <p:nvPr/>
          </p:nvSpPr>
          <p:spPr>
            <a:xfrm>
              <a:off x="904945" y="579844"/>
              <a:ext cx="65594" cy="65594"/>
            </a:xfrm>
            <a:prstGeom prst="ellipse">
              <a:avLst/>
            </a:prstGeom>
            <a:solidFill>
              <a:schemeClr val="accent1">
                <a:alpha val="20000"/>
              </a:schemeClr>
            </a:solidFill>
          </p:spPr>
        </p:sp>
        <p:sp>
          <p:nvSpPr>
            <p:cNvPr id="39" name="AutoShape 39"/>
            <p:cNvSpPr/>
            <p:nvPr/>
          </p:nvSpPr>
          <p:spPr>
            <a:xfrm>
              <a:off x="454963" y="684489"/>
              <a:ext cx="84147" cy="84147"/>
            </a:xfrm>
            <a:prstGeom prst="ellipse">
              <a:avLst/>
            </a:prstGeom>
            <a:solidFill>
              <a:schemeClr val="accent1">
                <a:alpha val="100000"/>
              </a:schemeClr>
            </a:solidFill>
          </p:spPr>
        </p:sp>
        <p:sp>
          <p:nvSpPr>
            <p:cNvPr id="40" name="AutoShape 40"/>
            <p:cNvSpPr/>
            <p:nvPr/>
          </p:nvSpPr>
          <p:spPr>
            <a:xfrm>
              <a:off x="575049" y="691064"/>
              <a:ext cx="78137" cy="78137"/>
            </a:xfrm>
            <a:prstGeom prst="ellipse">
              <a:avLst/>
            </a:prstGeom>
            <a:solidFill>
              <a:schemeClr val="accent1">
                <a:alpha val="80000"/>
              </a:schemeClr>
            </a:solidFill>
          </p:spPr>
        </p:sp>
        <p:sp>
          <p:nvSpPr>
            <p:cNvPr id="41" name="AutoShape 41"/>
            <p:cNvSpPr/>
            <p:nvPr/>
          </p:nvSpPr>
          <p:spPr>
            <a:xfrm>
              <a:off x="689125" y="692781"/>
              <a:ext cx="74704" cy="74704"/>
            </a:xfrm>
            <a:prstGeom prst="ellipse">
              <a:avLst/>
            </a:prstGeom>
            <a:solidFill>
              <a:schemeClr val="accent1">
                <a:alpha val="60000"/>
              </a:schemeClr>
            </a:solidFill>
          </p:spPr>
        </p:sp>
        <p:sp>
          <p:nvSpPr>
            <p:cNvPr id="42" name="AutoShape 42"/>
            <p:cNvSpPr/>
            <p:nvPr/>
          </p:nvSpPr>
          <p:spPr>
            <a:xfrm>
              <a:off x="799768" y="701751"/>
              <a:ext cx="69238" cy="69238"/>
            </a:xfrm>
            <a:prstGeom prst="ellipse">
              <a:avLst/>
            </a:prstGeom>
            <a:solidFill>
              <a:schemeClr val="accent1">
                <a:alpha val="40000"/>
              </a:schemeClr>
            </a:solidFill>
          </p:spPr>
        </p:sp>
        <p:sp>
          <p:nvSpPr>
            <p:cNvPr id="43" name="AutoShape 43"/>
            <p:cNvSpPr/>
            <p:nvPr/>
          </p:nvSpPr>
          <p:spPr>
            <a:xfrm>
              <a:off x="904945" y="697618"/>
              <a:ext cx="65594" cy="65594"/>
            </a:xfrm>
            <a:prstGeom prst="ellipse">
              <a:avLst/>
            </a:prstGeom>
            <a:solidFill>
              <a:schemeClr val="accent1">
                <a:alpha val="20000"/>
              </a:schemeClr>
            </a:solidFill>
          </p:spPr>
        </p:sp>
        <p:sp>
          <p:nvSpPr>
            <p:cNvPr id="44" name="TextBox 44"/>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系统总体设计</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6" name="文本框 45"/>
          <p:cNvSpPr txBox="1"/>
          <p:nvPr/>
        </p:nvSpPr>
        <p:spPr>
          <a:xfrm>
            <a:off x="5870575" y="-1614805"/>
            <a:ext cx="4064000" cy="368300"/>
          </a:xfrm>
          <a:prstGeom prst="rect">
            <a:avLst/>
          </a:prstGeom>
          <a:noFill/>
        </p:spPr>
        <p:txBody>
          <a:bodyPr wrap="square" rtlCol="0">
            <a:spAutoFit/>
          </a:bodyPr>
          <a:lstStyle/>
          <a:p>
            <a:endParaRPr lang="zh-CN" altLang="en-US"/>
          </a:p>
        </p:txBody>
      </p:sp>
      <p:sp>
        <p:nvSpPr>
          <p:cNvPr id="12" name="Rectangle 14"/>
          <p:cNvSpPr>
            <a:spLocks noChangeArrowheads="1"/>
          </p:cNvSpPr>
          <p:nvPr/>
        </p:nvSpPr>
        <p:spPr bwMode="auto">
          <a:xfrm>
            <a:off x="454963" y="96017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spAutoFit/>
          </a:bodyPr>
          <a:lstStyle/>
          <a:p>
            <a:endParaRPr lang="zh-CN" altLang="en-US"/>
          </a:p>
        </p:txBody>
      </p:sp>
      <p:sp>
        <p:nvSpPr>
          <p:cNvPr id="70" name="文本框 69"/>
          <p:cNvSpPr txBox="1"/>
          <p:nvPr/>
        </p:nvSpPr>
        <p:spPr>
          <a:xfrm>
            <a:off x="6629400" y="4099400"/>
            <a:ext cx="5333467" cy="2129044"/>
          </a:xfrm>
          <a:prstGeom prst="rect">
            <a:avLst/>
          </a:prstGeom>
          <a:noFill/>
        </p:spPr>
        <p:txBody>
          <a:bodyPr wrap="square">
            <a:spAutoFit/>
          </a:bodyPr>
          <a:lstStyle/>
          <a:p>
            <a:pPr indent="457200" algn="just">
              <a:lnSpc>
                <a:spcPct val="150000"/>
              </a:lnSpc>
              <a:spcBef>
                <a:spcPts val="375"/>
              </a:spcBef>
              <a:defRPr/>
            </a:pPr>
            <a:r>
              <a:rPr lang="zh-CN" altLang="en-US" sz="1500" dirty="0">
                <a:solidFill>
                  <a:schemeClr val="dk1">
                    <a:alpha val="100000"/>
                  </a:schemeClr>
                </a:solidFill>
                <a:latin typeface="微软雅黑" panose="020B0503020204020204" charset="-122"/>
                <a:ea typeface="微软雅黑" panose="020B0503020204020204" charset="-122"/>
              </a:rPr>
              <a:t>该系统实现“</a:t>
            </a:r>
            <a:r>
              <a:rPr lang="en-US" altLang="zh-CN" sz="1500" dirty="0">
                <a:solidFill>
                  <a:schemeClr val="dk1">
                    <a:alpha val="100000"/>
                  </a:schemeClr>
                </a:solidFill>
                <a:latin typeface="微软雅黑" panose="020B0503020204020204" charset="-122"/>
                <a:ea typeface="微软雅黑" panose="020B0503020204020204" charset="-122"/>
              </a:rPr>
              <a:t>user</a:t>
            </a:r>
            <a:r>
              <a:rPr lang="zh-CN" altLang="en-US" sz="1500" dirty="0">
                <a:solidFill>
                  <a:schemeClr val="dk1">
                    <a:alpha val="100000"/>
                  </a:schemeClr>
                </a:solidFill>
                <a:latin typeface="微软雅黑" panose="020B0503020204020204" charset="-122"/>
                <a:ea typeface="微软雅黑" panose="020B0503020204020204" charset="-122"/>
              </a:rPr>
              <a:t>”通过管理控制界面对农业大棚内的多个传感器和执行控制设备进行管理和控制，其中多个传感器和执行控制设备抽象为一个实体</a:t>
            </a:r>
            <a:r>
              <a:rPr lang="en-US" altLang="zh-CN" sz="1500" dirty="0" err="1">
                <a:solidFill>
                  <a:schemeClr val="dk1">
                    <a:alpha val="100000"/>
                  </a:schemeClr>
                </a:solidFill>
                <a:latin typeface="微软雅黑" panose="020B0503020204020204" charset="-122"/>
                <a:ea typeface="微软雅黑" panose="020B0503020204020204" charset="-122"/>
              </a:rPr>
              <a:t>sensor_record</a:t>
            </a:r>
            <a:r>
              <a:rPr lang="zh-CN" altLang="en-US" sz="1500" dirty="0">
                <a:solidFill>
                  <a:schemeClr val="dk1">
                    <a:alpha val="100000"/>
                  </a:schemeClr>
                </a:solidFill>
                <a:latin typeface="微软雅黑" panose="020B0503020204020204" charset="-122"/>
                <a:ea typeface="微软雅黑" panose="020B0503020204020204" charset="-122"/>
              </a:rPr>
              <a:t>，实体“</a:t>
            </a:r>
            <a:r>
              <a:rPr lang="en-US" altLang="zh-CN" sz="1500" dirty="0">
                <a:solidFill>
                  <a:schemeClr val="dk1">
                    <a:alpha val="100000"/>
                  </a:schemeClr>
                </a:solidFill>
                <a:latin typeface="微软雅黑" panose="020B0503020204020204" charset="-122"/>
                <a:ea typeface="微软雅黑" panose="020B0503020204020204" charset="-122"/>
              </a:rPr>
              <a:t>user”</a:t>
            </a:r>
            <a:r>
              <a:rPr lang="zh-CN" altLang="en-US" sz="1500" dirty="0">
                <a:solidFill>
                  <a:schemeClr val="dk1">
                    <a:alpha val="100000"/>
                  </a:schemeClr>
                </a:solidFill>
                <a:latin typeface="微软雅黑" panose="020B0503020204020204" charset="-122"/>
                <a:ea typeface="微软雅黑" panose="020B0503020204020204" charset="-122"/>
              </a:rPr>
              <a:t>和“</a:t>
            </a:r>
            <a:r>
              <a:rPr lang="en-US" altLang="zh-CN" sz="1500" dirty="0">
                <a:solidFill>
                  <a:schemeClr val="dk1">
                    <a:alpha val="100000"/>
                  </a:schemeClr>
                </a:solidFill>
                <a:latin typeface="微软雅黑" panose="020B0503020204020204" charset="-122"/>
                <a:ea typeface="微软雅黑" panose="020B0503020204020204" charset="-122"/>
              </a:rPr>
              <a:t>sensor record”</a:t>
            </a:r>
            <a:r>
              <a:rPr lang="zh-CN" altLang="en-US" sz="1500" dirty="0">
                <a:solidFill>
                  <a:schemeClr val="dk1">
                    <a:alpha val="100000"/>
                  </a:schemeClr>
                </a:solidFill>
                <a:latin typeface="微软雅黑" panose="020B0503020204020204" charset="-122"/>
                <a:ea typeface="微软雅黑" panose="020B0503020204020204" charset="-122"/>
              </a:rPr>
              <a:t>之间存在“</a:t>
            </a:r>
            <a:r>
              <a:rPr lang="en-US" altLang="zh-CN" sz="1500" dirty="0">
                <a:solidFill>
                  <a:schemeClr val="dk1">
                    <a:alpha val="100000"/>
                  </a:schemeClr>
                </a:solidFill>
                <a:latin typeface="微软雅黑" panose="020B0503020204020204" charset="-122"/>
                <a:ea typeface="微软雅黑" panose="020B0503020204020204" charset="-122"/>
              </a:rPr>
              <a:t>set”</a:t>
            </a:r>
            <a:r>
              <a:rPr lang="zh-CN" altLang="en-US" sz="1500" dirty="0">
                <a:solidFill>
                  <a:schemeClr val="dk1">
                    <a:alpha val="100000"/>
                  </a:schemeClr>
                </a:solidFill>
                <a:latin typeface="微软雅黑" panose="020B0503020204020204" charset="-122"/>
                <a:ea typeface="微软雅黑" panose="020B0503020204020204" charset="-122"/>
              </a:rPr>
              <a:t>关系。一个“</a:t>
            </a:r>
            <a:r>
              <a:rPr lang="en-US" altLang="zh-CN" sz="1500" dirty="0">
                <a:solidFill>
                  <a:schemeClr val="dk1">
                    <a:alpha val="100000"/>
                  </a:schemeClr>
                </a:solidFill>
                <a:latin typeface="微软雅黑" panose="020B0503020204020204" charset="-122"/>
                <a:ea typeface="微软雅黑" panose="020B0503020204020204" charset="-122"/>
              </a:rPr>
              <a:t>user</a:t>
            </a:r>
            <a:r>
              <a:rPr lang="zh-CN" altLang="en-US" sz="1500" dirty="0">
                <a:solidFill>
                  <a:schemeClr val="dk1">
                    <a:alpha val="100000"/>
                  </a:schemeClr>
                </a:solidFill>
                <a:latin typeface="微软雅黑" panose="020B0503020204020204" charset="-122"/>
                <a:ea typeface="微软雅黑" panose="020B0503020204020204" charset="-122"/>
              </a:rPr>
              <a:t>”可以管理和控制多个</a:t>
            </a:r>
            <a:r>
              <a:rPr lang="en-US" altLang="zh-CN" sz="1500" dirty="0" err="1">
                <a:solidFill>
                  <a:schemeClr val="dk1">
                    <a:alpha val="100000"/>
                  </a:schemeClr>
                </a:solidFill>
                <a:latin typeface="微软雅黑" panose="020B0503020204020204" charset="-122"/>
                <a:ea typeface="微软雅黑" panose="020B0503020204020204" charset="-122"/>
              </a:rPr>
              <a:t>sensor_record</a:t>
            </a:r>
            <a:r>
              <a:rPr lang="zh-CN" altLang="en-US" sz="1500" dirty="0">
                <a:solidFill>
                  <a:schemeClr val="dk1">
                    <a:alpha val="100000"/>
                  </a:schemeClr>
                </a:solidFill>
                <a:latin typeface="微软雅黑" panose="020B0503020204020204" charset="-122"/>
                <a:ea typeface="微软雅黑" panose="020B0503020204020204" charset="-122"/>
              </a:rPr>
              <a:t>，一个</a:t>
            </a:r>
            <a:r>
              <a:rPr lang="en-US" altLang="zh-CN" sz="1500" dirty="0" err="1">
                <a:solidFill>
                  <a:schemeClr val="dk1">
                    <a:alpha val="100000"/>
                  </a:schemeClr>
                </a:solidFill>
                <a:latin typeface="微软雅黑" panose="020B0503020204020204" charset="-122"/>
                <a:ea typeface="微软雅黑" panose="020B0503020204020204" charset="-122"/>
              </a:rPr>
              <a:t>sensor_record</a:t>
            </a:r>
            <a:r>
              <a:rPr lang="zh-CN" altLang="en-US" sz="1500" dirty="0">
                <a:solidFill>
                  <a:schemeClr val="dk1">
                    <a:alpha val="100000"/>
                  </a:schemeClr>
                </a:solidFill>
                <a:latin typeface="微软雅黑" panose="020B0503020204020204" charset="-122"/>
                <a:ea typeface="微软雅黑" panose="020B0503020204020204" charset="-122"/>
              </a:rPr>
              <a:t>可以被多个“</a:t>
            </a:r>
            <a:r>
              <a:rPr lang="en-US" altLang="zh-CN" sz="1500" dirty="0">
                <a:solidFill>
                  <a:schemeClr val="dk1">
                    <a:alpha val="100000"/>
                  </a:schemeClr>
                </a:solidFill>
                <a:latin typeface="微软雅黑" panose="020B0503020204020204" charset="-122"/>
                <a:ea typeface="微软雅黑" panose="020B0503020204020204" charset="-122"/>
              </a:rPr>
              <a:t>user</a:t>
            </a:r>
            <a:r>
              <a:rPr lang="zh-CN" altLang="en-US" sz="1500" dirty="0">
                <a:solidFill>
                  <a:schemeClr val="dk1">
                    <a:alpha val="100000"/>
                  </a:schemeClr>
                </a:solidFill>
                <a:latin typeface="微软雅黑" panose="020B0503020204020204" charset="-122"/>
                <a:ea typeface="微软雅黑" panose="020B0503020204020204" charset="-122"/>
              </a:rPr>
              <a:t>”共享，“</a:t>
            </a:r>
            <a:r>
              <a:rPr lang="en-US" altLang="zh-CN" sz="1500" dirty="0">
                <a:solidFill>
                  <a:schemeClr val="dk1">
                    <a:alpha val="100000"/>
                  </a:schemeClr>
                </a:solidFill>
                <a:latin typeface="微软雅黑" panose="020B0503020204020204" charset="-122"/>
                <a:ea typeface="微软雅黑" panose="020B0503020204020204" charset="-122"/>
              </a:rPr>
              <a:t>set”</a:t>
            </a:r>
            <a:r>
              <a:rPr lang="zh-CN" altLang="en-US" sz="1500" dirty="0">
                <a:solidFill>
                  <a:schemeClr val="dk1">
                    <a:alpha val="100000"/>
                  </a:schemeClr>
                </a:solidFill>
                <a:latin typeface="微软雅黑" panose="020B0503020204020204" charset="-122"/>
                <a:ea typeface="微软雅黑" panose="020B0503020204020204" charset="-122"/>
              </a:rPr>
              <a:t>是多对多（</a:t>
            </a:r>
            <a:r>
              <a:rPr lang="en-US" altLang="zh-CN" sz="1500" dirty="0">
                <a:solidFill>
                  <a:schemeClr val="dk1">
                    <a:alpha val="100000"/>
                  </a:schemeClr>
                </a:solidFill>
                <a:latin typeface="微软雅黑" panose="020B0503020204020204" charset="-122"/>
                <a:ea typeface="微软雅黑" panose="020B0503020204020204" charset="-122"/>
              </a:rPr>
              <a:t>N:M</a:t>
            </a:r>
            <a:r>
              <a:rPr lang="zh-CN" altLang="en-US" sz="1500" dirty="0">
                <a:solidFill>
                  <a:schemeClr val="dk1">
                    <a:alpha val="100000"/>
                  </a:schemeClr>
                </a:solidFill>
                <a:latin typeface="微软雅黑" panose="020B0503020204020204" charset="-122"/>
                <a:ea typeface="微软雅黑" panose="020B0503020204020204" charset="-122"/>
              </a:rPr>
              <a:t>）关系。</a:t>
            </a:r>
            <a:endParaRPr lang="zh-CN" altLang="en-US" sz="1500" dirty="0">
              <a:solidFill>
                <a:schemeClr val="dk1">
                  <a:alpha val="100000"/>
                </a:schemeClr>
              </a:solidFill>
              <a:latin typeface="微软雅黑" panose="020B0503020204020204" charset="-122"/>
              <a:ea typeface="微软雅黑" panose="020B0503020204020204" charset="-122"/>
            </a:endParaRPr>
          </a:p>
        </p:txBody>
      </p:sp>
      <p:pic>
        <p:nvPicPr>
          <p:cNvPr id="3" name="图片 2"/>
          <p:cNvPicPr>
            <a:picLocks noChangeAspect="1"/>
          </p:cNvPicPr>
          <p:nvPr/>
        </p:nvPicPr>
        <p:blipFill>
          <a:blip r:embed="rId2"/>
          <a:stretch>
            <a:fillRect/>
          </a:stretch>
        </p:blipFill>
        <p:spPr>
          <a:xfrm>
            <a:off x="1032924" y="1403950"/>
            <a:ext cx="2309539" cy="2012039"/>
          </a:xfrm>
          <a:prstGeom prst="rect">
            <a:avLst/>
          </a:prstGeom>
        </p:spPr>
      </p:pic>
      <p:pic>
        <p:nvPicPr>
          <p:cNvPr id="5" name="图片 4"/>
          <p:cNvPicPr>
            <a:picLocks noChangeAspect="1"/>
          </p:cNvPicPr>
          <p:nvPr/>
        </p:nvPicPr>
        <p:blipFill>
          <a:blip r:embed="rId3"/>
          <a:stretch>
            <a:fillRect/>
          </a:stretch>
        </p:blipFill>
        <p:spPr>
          <a:xfrm>
            <a:off x="3394133" y="1384900"/>
            <a:ext cx="2419368" cy="2019315"/>
          </a:xfrm>
          <a:prstGeom prst="rect">
            <a:avLst/>
          </a:prstGeom>
        </p:spPr>
      </p:pic>
      <p:pic>
        <p:nvPicPr>
          <p:cNvPr id="7" name="图片 6"/>
          <p:cNvPicPr>
            <a:picLocks noChangeAspect="1"/>
          </p:cNvPicPr>
          <p:nvPr/>
        </p:nvPicPr>
        <p:blipFill>
          <a:blip r:embed="rId4"/>
          <a:stretch>
            <a:fillRect/>
          </a:stretch>
        </p:blipFill>
        <p:spPr>
          <a:xfrm>
            <a:off x="5849072" y="1387758"/>
            <a:ext cx="2943247" cy="2028840"/>
          </a:xfrm>
          <a:prstGeom prst="rect">
            <a:avLst/>
          </a:prstGeom>
        </p:spPr>
      </p:pic>
      <p:pic>
        <p:nvPicPr>
          <p:cNvPr id="9" name="图片 8"/>
          <p:cNvPicPr>
            <a:picLocks noChangeAspect="1"/>
          </p:cNvPicPr>
          <p:nvPr/>
        </p:nvPicPr>
        <p:blipFill rotWithShape="1">
          <a:blip r:embed="rId5"/>
          <a:srcRect t="2782"/>
          <a:stretch>
            <a:fillRect/>
          </a:stretch>
        </p:blipFill>
        <p:spPr>
          <a:xfrm>
            <a:off x="8849539" y="1274903"/>
            <a:ext cx="2514618" cy="2203908"/>
          </a:xfrm>
          <a:prstGeom prst="rect">
            <a:avLst/>
          </a:prstGeom>
        </p:spPr>
      </p:pic>
      <p:pic>
        <p:nvPicPr>
          <p:cNvPr id="13" name="图片 12"/>
          <p:cNvPicPr>
            <a:picLocks noChangeAspect="1"/>
          </p:cNvPicPr>
          <p:nvPr/>
        </p:nvPicPr>
        <p:blipFill>
          <a:blip r:embed="rId6"/>
          <a:stretch>
            <a:fillRect/>
          </a:stretch>
        </p:blipFill>
        <p:spPr>
          <a:xfrm>
            <a:off x="2152600" y="3563723"/>
            <a:ext cx="4398363" cy="32003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grpSp>
        <p:nvGrpSpPr>
          <p:cNvPr id="4" name="Group 4"/>
          <p:cNvGrpSpPr/>
          <p:nvPr/>
        </p:nvGrpSpPr>
        <p:grpSpPr>
          <a:xfrm>
            <a:off x="-2693471" y="4060468"/>
            <a:ext cx="5386942" cy="5386942"/>
            <a:chOff x="-2693471" y="4060468"/>
            <a:chExt cx="5386942" cy="5386942"/>
          </a:xfrm>
        </p:grpSpPr>
        <p:sp>
          <p:nvSpPr>
            <p:cNvPr id="5" name="AutoShape 5"/>
            <p:cNvSpPr/>
            <p:nvPr/>
          </p:nvSpPr>
          <p:spPr>
            <a:xfrm>
              <a:off x="-472539" y="6281401"/>
              <a:ext cx="945078" cy="945078"/>
            </a:xfrm>
            <a:prstGeom prst="ellipse">
              <a:avLst/>
            </a:prstGeom>
          </p:spPr>
        </p:sp>
        <p:sp>
          <p:nvSpPr>
            <p:cNvPr id="6" name="AutoShape 6"/>
            <p:cNvSpPr/>
            <p:nvPr/>
          </p:nvSpPr>
          <p:spPr>
            <a:xfrm>
              <a:off x="-694632" y="6059307"/>
              <a:ext cx="1389264" cy="1389264"/>
            </a:xfrm>
            <a:prstGeom prst="ellipse">
              <a:avLst/>
            </a:prstGeom>
          </p:spPr>
        </p:sp>
        <p:sp>
          <p:nvSpPr>
            <p:cNvPr id="7" name="AutoShape 7"/>
            <p:cNvSpPr/>
            <p:nvPr/>
          </p:nvSpPr>
          <p:spPr>
            <a:xfrm>
              <a:off x="-916725" y="5837215"/>
              <a:ext cx="1833451" cy="1833451"/>
            </a:xfrm>
            <a:prstGeom prst="ellipse">
              <a:avLst/>
            </a:prstGeom>
          </p:spPr>
        </p:sp>
        <p:sp>
          <p:nvSpPr>
            <p:cNvPr id="8" name="AutoShape 8"/>
            <p:cNvSpPr/>
            <p:nvPr/>
          </p:nvSpPr>
          <p:spPr>
            <a:xfrm>
              <a:off x="-1138818" y="5615121"/>
              <a:ext cx="2277637" cy="2277637"/>
            </a:xfrm>
            <a:prstGeom prst="ellipse">
              <a:avLst/>
            </a:prstGeom>
          </p:spPr>
        </p:sp>
        <p:sp>
          <p:nvSpPr>
            <p:cNvPr id="9" name="AutoShape 9"/>
            <p:cNvSpPr/>
            <p:nvPr/>
          </p:nvSpPr>
          <p:spPr>
            <a:xfrm>
              <a:off x="-1360912" y="5393028"/>
              <a:ext cx="2721823" cy="2721823"/>
            </a:xfrm>
            <a:prstGeom prst="ellipse">
              <a:avLst/>
            </a:prstGeom>
          </p:spPr>
        </p:sp>
        <p:sp>
          <p:nvSpPr>
            <p:cNvPr id="10" name="AutoShape 10"/>
            <p:cNvSpPr/>
            <p:nvPr/>
          </p:nvSpPr>
          <p:spPr>
            <a:xfrm>
              <a:off x="-1583005" y="5170935"/>
              <a:ext cx="3166010" cy="3166010"/>
            </a:xfrm>
            <a:prstGeom prst="ellipse">
              <a:avLst/>
            </a:prstGeom>
          </p:spPr>
        </p:sp>
        <p:sp>
          <p:nvSpPr>
            <p:cNvPr id="11" name="AutoShape 11"/>
            <p:cNvSpPr/>
            <p:nvPr/>
          </p:nvSpPr>
          <p:spPr>
            <a:xfrm>
              <a:off x="-1805098" y="4948842"/>
              <a:ext cx="3610196" cy="3610196"/>
            </a:xfrm>
            <a:prstGeom prst="ellipse">
              <a:avLst/>
            </a:prstGeom>
          </p:spPr>
        </p:sp>
        <p:sp>
          <p:nvSpPr>
            <p:cNvPr id="12" name="AutoShape 12"/>
            <p:cNvSpPr/>
            <p:nvPr/>
          </p:nvSpPr>
          <p:spPr>
            <a:xfrm>
              <a:off x="-2027191" y="4726748"/>
              <a:ext cx="4054383" cy="4054383"/>
            </a:xfrm>
            <a:prstGeom prst="ellipse">
              <a:avLst/>
            </a:prstGeom>
          </p:spPr>
        </p:sp>
        <p:sp>
          <p:nvSpPr>
            <p:cNvPr id="13" name="AutoShape 13"/>
            <p:cNvSpPr/>
            <p:nvPr/>
          </p:nvSpPr>
          <p:spPr>
            <a:xfrm>
              <a:off x="-2249285" y="4504655"/>
              <a:ext cx="4498569" cy="4498569"/>
            </a:xfrm>
            <a:prstGeom prst="ellipse">
              <a:avLst/>
            </a:prstGeom>
          </p:spPr>
        </p:sp>
        <p:sp>
          <p:nvSpPr>
            <p:cNvPr id="14" name="AutoShape 14"/>
            <p:cNvSpPr/>
            <p:nvPr/>
          </p:nvSpPr>
          <p:spPr>
            <a:xfrm>
              <a:off x="-2471378" y="4282562"/>
              <a:ext cx="4942756" cy="4942756"/>
            </a:xfrm>
            <a:prstGeom prst="ellipse">
              <a:avLst/>
            </a:prstGeom>
          </p:spPr>
        </p:sp>
        <p:sp>
          <p:nvSpPr>
            <p:cNvPr id="15" name="AutoShape 15"/>
            <p:cNvSpPr/>
            <p:nvPr/>
          </p:nvSpPr>
          <p:spPr>
            <a:xfrm>
              <a:off x="-2693471" y="4060468"/>
              <a:ext cx="5386942" cy="5386942"/>
            </a:xfrm>
            <a:prstGeom prst="ellipse">
              <a:avLst/>
            </a:prstGeom>
          </p:spPr>
        </p:sp>
      </p:grpSp>
      <p:sp>
        <p:nvSpPr>
          <p:cNvPr id="17" name="AutoShape 17"/>
          <p:cNvSpPr/>
          <p:nvPr/>
        </p:nvSpPr>
        <p:spPr>
          <a:xfrm>
            <a:off x="1241512" y="904467"/>
            <a:ext cx="441594" cy="441594"/>
          </a:xfrm>
          <a:prstGeom prst="rect">
            <a:avLst/>
          </a:prstGeom>
          <a:solidFill>
            <a:schemeClr val="accent1">
              <a:lumMod val="50000"/>
              <a:alpha val="100000"/>
            </a:schemeClr>
          </a:solidFill>
        </p:spPr>
        <p:txBody>
          <a:bodyPr/>
          <a:lstStyle/>
          <a:p>
            <a:endParaRPr lang="zh-CN" altLang="en-US"/>
          </a:p>
        </p:txBody>
      </p:sp>
      <p:sp>
        <p:nvSpPr>
          <p:cNvPr id="18" name="TextBox 18"/>
          <p:cNvSpPr txBox="1"/>
          <p:nvPr/>
        </p:nvSpPr>
        <p:spPr>
          <a:xfrm>
            <a:off x="1241512" y="986032"/>
            <a:ext cx="438150" cy="304800"/>
          </a:xfrm>
          <a:prstGeom prst="rect">
            <a:avLst/>
          </a:prstGeom>
        </p:spPr>
        <p:txBody>
          <a:bodyPr vert="horz" wrap="square" lIns="85725" tIns="38100" rIns="85725" bIns="38100" rtlCol="0" anchor="ctr" anchorCtr="1">
            <a:spAutoFit/>
          </a:bodyPr>
          <a:lstStyle/>
          <a:p>
            <a:pPr algn="ctr">
              <a:lnSpc>
                <a:spcPct val="80000"/>
              </a:lnSpc>
            </a:pPr>
            <a:r>
              <a:rPr lang="en-US" sz="150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lang="en-US" sz="150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grpSp>
        <p:nvGrpSpPr>
          <p:cNvPr id="28" name="Group 28"/>
          <p:cNvGrpSpPr/>
          <p:nvPr/>
        </p:nvGrpSpPr>
        <p:grpSpPr>
          <a:xfrm>
            <a:off x="454963" y="93878"/>
            <a:ext cx="10641129" cy="826316"/>
            <a:chOff x="454963" y="93878"/>
            <a:chExt cx="10641129" cy="826316"/>
          </a:xfrm>
        </p:grpSpPr>
        <p:sp>
          <p:nvSpPr>
            <p:cNvPr id="29" name="AutoShape 29"/>
            <p:cNvSpPr/>
            <p:nvPr/>
          </p:nvSpPr>
          <p:spPr>
            <a:xfrm>
              <a:off x="454963" y="331168"/>
              <a:ext cx="84147" cy="84147"/>
            </a:xfrm>
            <a:prstGeom prst="ellipse">
              <a:avLst/>
            </a:prstGeom>
            <a:solidFill>
              <a:schemeClr val="accent1">
                <a:alpha val="100000"/>
              </a:schemeClr>
            </a:solidFill>
          </p:spPr>
        </p:sp>
        <p:sp>
          <p:nvSpPr>
            <p:cNvPr id="30" name="AutoShape 30"/>
            <p:cNvSpPr/>
            <p:nvPr/>
          </p:nvSpPr>
          <p:spPr>
            <a:xfrm>
              <a:off x="575049" y="337743"/>
              <a:ext cx="78137" cy="78137"/>
            </a:xfrm>
            <a:prstGeom prst="ellipse">
              <a:avLst/>
            </a:prstGeom>
            <a:solidFill>
              <a:schemeClr val="accent1">
                <a:alpha val="80000"/>
              </a:schemeClr>
            </a:solidFill>
          </p:spPr>
        </p:sp>
        <p:sp>
          <p:nvSpPr>
            <p:cNvPr id="31" name="AutoShape 31"/>
            <p:cNvSpPr/>
            <p:nvPr/>
          </p:nvSpPr>
          <p:spPr>
            <a:xfrm>
              <a:off x="689125" y="339460"/>
              <a:ext cx="74704" cy="74704"/>
            </a:xfrm>
            <a:prstGeom prst="ellipse">
              <a:avLst/>
            </a:prstGeom>
            <a:solidFill>
              <a:schemeClr val="accent1">
                <a:alpha val="60000"/>
              </a:schemeClr>
            </a:solidFill>
          </p:spPr>
        </p:sp>
        <p:sp>
          <p:nvSpPr>
            <p:cNvPr id="32" name="AutoShape 32"/>
            <p:cNvSpPr/>
            <p:nvPr/>
          </p:nvSpPr>
          <p:spPr>
            <a:xfrm>
              <a:off x="799768" y="348430"/>
              <a:ext cx="69238" cy="69238"/>
            </a:xfrm>
            <a:prstGeom prst="ellipse">
              <a:avLst/>
            </a:prstGeom>
            <a:solidFill>
              <a:schemeClr val="accent1">
                <a:alpha val="40000"/>
              </a:schemeClr>
            </a:solidFill>
          </p:spPr>
        </p:sp>
        <p:sp>
          <p:nvSpPr>
            <p:cNvPr id="33" name="AutoShape 33"/>
            <p:cNvSpPr/>
            <p:nvPr/>
          </p:nvSpPr>
          <p:spPr>
            <a:xfrm>
              <a:off x="904945" y="344297"/>
              <a:ext cx="65594" cy="65594"/>
            </a:xfrm>
            <a:prstGeom prst="ellipse">
              <a:avLst/>
            </a:prstGeom>
            <a:solidFill>
              <a:schemeClr val="accent1">
                <a:alpha val="20000"/>
              </a:schemeClr>
            </a:solidFill>
          </p:spPr>
        </p:sp>
        <p:sp>
          <p:nvSpPr>
            <p:cNvPr id="34" name="AutoShape 34"/>
            <p:cNvSpPr/>
            <p:nvPr/>
          </p:nvSpPr>
          <p:spPr>
            <a:xfrm>
              <a:off x="454963" y="448942"/>
              <a:ext cx="84147" cy="84147"/>
            </a:xfrm>
            <a:prstGeom prst="ellipse">
              <a:avLst/>
            </a:prstGeom>
            <a:solidFill>
              <a:schemeClr val="accent1">
                <a:alpha val="100000"/>
              </a:schemeClr>
            </a:solidFill>
          </p:spPr>
        </p:sp>
        <p:sp>
          <p:nvSpPr>
            <p:cNvPr id="35" name="AutoShape 35"/>
            <p:cNvSpPr/>
            <p:nvPr/>
          </p:nvSpPr>
          <p:spPr>
            <a:xfrm>
              <a:off x="575049" y="455517"/>
              <a:ext cx="78137" cy="78137"/>
            </a:xfrm>
            <a:prstGeom prst="ellipse">
              <a:avLst/>
            </a:prstGeom>
            <a:solidFill>
              <a:schemeClr val="accent1">
                <a:alpha val="80000"/>
              </a:schemeClr>
            </a:solidFill>
          </p:spPr>
        </p:sp>
        <p:sp>
          <p:nvSpPr>
            <p:cNvPr id="36" name="AutoShape 36"/>
            <p:cNvSpPr/>
            <p:nvPr/>
          </p:nvSpPr>
          <p:spPr>
            <a:xfrm>
              <a:off x="689125" y="457233"/>
              <a:ext cx="74704" cy="74704"/>
            </a:xfrm>
            <a:prstGeom prst="ellipse">
              <a:avLst/>
            </a:prstGeom>
            <a:solidFill>
              <a:schemeClr val="accent1">
                <a:alpha val="60000"/>
              </a:schemeClr>
            </a:solidFill>
          </p:spPr>
        </p:sp>
        <p:sp>
          <p:nvSpPr>
            <p:cNvPr id="37" name="AutoShape 37"/>
            <p:cNvSpPr/>
            <p:nvPr/>
          </p:nvSpPr>
          <p:spPr>
            <a:xfrm>
              <a:off x="799768" y="466203"/>
              <a:ext cx="69238" cy="69238"/>
            </a:xfrm>
            <a:prstGeom prst="ellipse">
              <a:avLst/>
            </a:prstGeom>
            <a:solidFill>
              <a:schemeClr val="accent1">
                <a:alpha val="40000"/>
              </a:schemeClr>
            </a:solidFill>
          </p:spPr>
        </p:sp>
        <p:sp>
          <p:nvSpPr>
            <p:cNvPr id="38" name="AutoShape 38"/>
            <p:cNvSpPr/>
            <p:nvPr/>
          </p:nvSpPr>
          <p:spPr>
            <a:xfrm>
              <a:off x="904945" y="462070"/>
              <a:ext cx="65594" cy="65594"/>
            </a:xfrm>
            <a:prstGeom prst="ellipse">
              <a:avLst/>
            </a:prstGeom>
            <a:solidFill>
              <a:schemeClr val="accent1">
                <a:alpha val="20000"/>
              </a:schemeClr>
            </a:solidFill>
          </p:spPr>
        </p:sp>
        <p:sp>
          <p:nvSpPr>
            <p:cNvPr id="39" name="AutoShape 39"/>
            <p:cNvSpPr/>
            <p:nvPr/>
          </p:nvSpPr>
          <p:spPr>
            <a:xfrm>
              <a:off x="454963" y="566715"/>
              <a:ext cx="84147" cy="84147"/>
            </a:xfrm>
            <a:prstGeom prst="ellipse">
              <a:avLst/>
            </a:prstGeom>
            <a:solidFill>
              <a:schemeClr val="accent1">
                <a:alpha val="100000"/>
              </a:schemeClr>
            </a:solidFill>
          </p:spPr>
        </p:sp>
        <p:sp>
          <p:nvSpPr>
            <p:cNvPr id="40" name="AutoShape 40"/>
            <p:cNvSpPr/>
            <p:nvPr/>
          </p:nvSpPr>
          <p:spPr>
            <a:xfrm>
              <a:off x="575049" y="573291"/>
              <a:ext cx="78137" cy="78137"/>
            </a:xfrm>
            <a:prstGeom prst="ellipse">
              <a:avLst/>
            </a:prstGeom>
            <a:solidFill>
              <a:schemeClr val="accent1">
                <a:alpha val="80000"/>
              </a:schemeClr>
            </a:solidFill>
          </p:spPr>
        </p:sp>
        <p:sp>
          <p:nvSpPr>
            <p:cNvPr id="41" name="AutoShape 41"/>
            <p:cNvSpPr/>
            <p:nvPr/>
          </p:nvSpPr>
          <p:spPr>
            <a:xfrm>
              <a:off x="689125" y="575007"/>
              <a:ext cx="74704" cy="74704"/>
            </a:xfrm>
            <a:prstGeom prst="ellipse">
              <a:avLst/>
            </a:prstGeom>
            <a:solidFill>
              <a:schemeClr val="accent1">
                <a:alpha val="60000"/>
              </a:schemeClr>
            </a:solidFill>
          </p:spPr>
        </p:sp>
        <p:sp>
          <p:nvSpPr>
            <p:cNvPr id="42" name="AutoShape 42"/>
            <p:cNvSpPr/>
            <p:nvPr/>
          </p:nvSpPr>
          <p:spPr>
            <a:xfrm>
              <a:off x="799768" y="583977"/>
              <a:ext cx="69238" cy="69238"/>
            </a:xfrm>
            <a:prstGeom prst="ellipse">
              <a:avLst/>
            </a:prstGeom>
            <a:solidFill>
              <a:schemeClr val="accent1">
                <a:alpha val="40000"/>
              </a:schemeClr>
            </a:solidFill>
          </p:spPr>
        </p:sp>
        <p:sp>
          <p:nvSpPr>
            <p:cNvPr id="43" name="AutoShape 43"/>
            <p:cNvSpPr/>
            <p:nvPr/>
          </p:nvSpPr>
          <p:spPr>
            <a:xfrm>
              <a:off x="904945" y="579844"/>
              <a:ext cx="65594" cy="65594"/>
            </a:xfrm>
            <a:prstGeom prst="ellipse">
              <a:avLst/>
            </a:prstGeom>
            <a:solidFill>
              <a:schemeClr val="accent1">
                <a:alpha val="20000"/>
              </a:schemeClr>
            </a:solidFill>
          </p:spPr>
        </p:sp>
        <p:sp>
          <p:nvSpPr>
            <p:cNvPr id="44" name="AutoShape 44"/>
            <p:cNvSpPr/>
            <p:nvPr/>
          </p:nvSpPr>
          <p:spPr>
            <a:xfrm>
              <a:off x="454963" y="684489"/>
              <a:ext cx="84147" cy="84147"/>
            </a:xfrm>
            <a:prstGeom prst="ellipse">
              <a:avLst/>
            </a:prstGeom>
            <a:solidFill>
              <a:schemeClr val="accent1">
                <a:alpha val="100000"/>
              </a:schemeClr>
            </a:solidFill>
          </p:spPr>
        </p:sp>
        <p:sp>
          <p:nvSpPr>
            <p:cNvPr id="45" name="AutoShape 45"/>
            <p:cNvSpPr/>
            <p:nvPr/>
          </p:nvSpPr>
          <p:spPr>
            <a:xfrm>
              <a:off x="575049" y="691064"/>
              <a:ext cx="78137" cy="78137"/>
            </a:xfrm>
            <a:prstGeom prst="ellipse">
              <a:avLst/>
            </a:prstGeom>
            <a:solidFill>
              <a:schemeClr val="accent1">
                <a:alpha val="80000"/>
              </a:schemeClr>
            </a:solidFill>
          </p:spPr>
        </p:sp>
        <p:sp>
          <p:nvSpPr>
            <p:cNvPr id="46" name="AutoShape 46"/>
            <p:cNvSpPr/>
            <p:nvPr/>
          </p:nvSpPr>
          <p:spPr>
            <a:xfrm>
              <a:off x="689125" y="692781"/>
              <a:ext cx="74704" cy="74704"/>
            </a:xfrm>
            <a:prstGeom prst="ellipse">
              <a:avLst/>
            </a:prstGeom>
            <a:solidFill>
              <a:schemeClr val="accent1">
                <a:alpha val="60000"/>
              </a:schemeClr>
            </a:solidFill>
          </p:spPr>
        </p:sp>
        <p:sp>
          <p:nvSpPr>
            <p:cNvPr id="47" name="AutoShape 47"/>
            <p:cNvSpPr/>
            <p:nvPr/>
          </p:nvSpPr>
          <p:spPr>
            <a:xfrm>
              <a:off x="799768" y="701751"/>
              <a:ext cx="69238" cy="69238"/>
            </a:xfrm>
            <a:prstGeom prst="ellipse">
              <a:avLst/>
            </a:prstGeom>
            <a:solidFill>
              <a:schemeClr val="accent1">
                <a:alpha val="40000"/>
              </a:schemeClr>
            </a:solidFill>
          </p:spPr>
        </p:sp>
        <p:sp>
          <p:nvSpPr>
            <p:cNvPr id="48" name="AutoShape 48"/>
            <p:cNvSpPr/>
            <p:nvPr/>
          </p:nvSpPr>
          <p:spPr>
            <a:xfrm>
              <a:off x="904945" y="697618"/>
              <a:ext cx="65594" cy="65594"/>
            </a:xfrm>
            <a:prstGeom prst="ellipse">
              <a:avLst/>
            </a:prstGeom>
            <a:solidFill>
              <a:schemeClr val="accent1">
                <a:alpha val="20000"/>
              </a:schemeClr>
            </a:solidFill>
          </p:spPr>
        </p:sp>
        <p:sp>
          <p:nvSpPr>
            <p:cNvPr id="49" name="TextBox 49"/>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主要模块详细设计</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50" name="文本框 49"/>
          <p:cNvSpPr txBox="1"/>
          <p:nvPr/>
        </p:nvSpPr>
        <p:spPr>
          <a:xfrm>
            <a:off x="1738674" y="8896892"/>
            <a:ext cx="2928192" cy="368300"/>
          </a:xfrm>
          <a:prstGeom prst="rect">
            <a:avLst/>
          </a:prstGeom>
          <a:noFill/>
        </p:spPr>
        <p:txBody>
          <a:bodyPr wrap="square" rtlCol="0">
            <a:spAutoFit/>
          </a:bodyPr>
          <a:lstStyle/>
          <a:p>
            <a:endParaRPr lang="zh-CN" altLang="en-US" dirty="0"/>
          </a:p>
        </p:txBody>
      </p:sp>
      <p:sp>
        <p:nvSpPr>
          <p:cNvPr id="16" name="TextBox 14"/>
          <p:cNvSpPr txBox="1"/>
          <p:nvPr/>
        </p:nvSpPr>
        <p:spPr>
          <a:xfrm>
            <a:off x="1740175" y="932847"/>
            <a:ext cx="2222225"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硬件选型及连接电路图</a:t>
            </a:r>
            <a:endParaRPr 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51" name="文本框 50"/>
          <p:cNvSpPr txBox="1"/>
          <p:nvPr/>
        </p:nvSpPr>
        <p:spPr>
          <a:xfrm>
            <a:off x="3505200" y="1434868"/>
            <a:ext cx="5867400" cy="744050"/>
          </a:xfrm>
          <a:prstGeom prst="rect">
            <a:avLst/>
          </a:prstGeom>
          <a:noFill/>
        </p:spPr>
        <p:txBody>
          <a:bodyPr wrap="square">
            <a:spAutoFit/>
          </a:bodyPr>
          <a:lstStyle/>
          <a:p>
            <a:pPr indent="457200" algn="just">
              <a:lnSpc>
                <a:spcPct val="150000"/>
              </a:lnSpc>
              <a:spcBef>
                <a:spcPts val="375"/>
              </a:spcBef>
              <a:defRPr/>
            </a:pPr>
            <a:r>
              <a:rPr lang="zh-CN" altLang="en-US" sz="1500" dirty="0">
                <a:solidFill>
                  <a:schemeClr val="dk1">
                    <a:alpha val="100000"/>
                  </a:schemeClr>
                </a:solidFill>
                <a:latin typeface="微软雅黑" panose="020B0503020204020204" charset="-122"/>
                <a:ea typeface="微软雅黑" panose="020B0503020204020204" charset="-122"/>
              </a:rPr>
              <a:t>采用的</a:t>
            </a:r>
            <a:r>
              <a:rPr lang="en-US" altLang="zh-CN" sz="1500" dirty="0">
                <a:solidFill>
                  <a:schemeClr val="dk1">
                    <a:alpha val="100000"/>
                  </a:schemeClr>
                </a:solidFill>
                <a:latin typeface="微软雅黑" panose="020B0503020204020204" charset="-122"/>
                <a:ea typeface="微软雅黑" panose="020B0503020204020204" charset="-122"/>
              </a:rPr>
              <a:t>DHT11</a:t>
            </a:r>
            <a:r>
              <a:rPr lang="zh-CN" altLang="en-US" sz="1500" dirty="0">
                <a:solidFill>
                  <a:schemeClr val="dk1">
                    <a:alpha val="100000"/>
                  </a:schemeClr>
                </a:solidFill>
                <a:latin typeface="微软雅黑" panose="020B0503020204020204" charset="-122"/>
                <a:ea typeface="微软雅黑" panose="020B0503020204020204" charset="-122"/>
              </a:rPr>
              <a:t>温湿度传感器，</a:t>
            </a:r>
            <a:r>
              <a:rPr lang="en-US" altLang="zh-CN" sz="1500" dirty="0">
                <a:solidFill>
                  <a:schemeClr val="dk1">
                    <a:alpha val="100000"/>
                  </a:schemeClr>
                </a:solidFill>
                <a:latin typeface="微软雅黑" panose="020B0503020204020204" charset="-122"/>
                <a:ea typeface="微软雅黑" panose="020B0503020204020204" charset="-122"/>
              </a:rPr>
              <a:t>YL-69</a:t>
            </a:r>
            <a:r>
              <a:rPr lang="zh-CN" altLang="en-US" sz="1500" dirty="0">
                <a:solidFill>
                  <a:schemeClr val="dk1">
                    <a:alpha val="100000"/>
                  </a:schemeClr>
                </a:solidFill>
                <a:latin typeface="微软雅黑" panose="020B0503020204020204" charset="-122"/>
                <a:ea typeface="微软雅黑" panose="020B0503020204020204" charset="-122"/>
              </a:rPr>
              <a:t>土壤湿度传感器和光敏电阻传感器，风扇和水泵的实物图以及连接电路图如下：</a:t>
            </a:r>
            <a:endParaRPr lang="zh-CN" altLang="en-US" sz="1500" dirty="0">
              <a:solidFill>
                <a:schemeClr val="dk1">
                  <a:alpha val="100000"/>
                </a:schemeClr>
              </a:solidFill>
              <a:latin typeface="微软雅黑" panose="020B0503020204020204" charset="-122"/>
              <a:ea typeface="微软雅黑" panose="020B0503020204020204" charset="-122"/>
            </a:endParaRPr>
          </a:p>
        </p:txBody>
      </p:sp>
      <p:pic>
        <p:nvPicPr>
          <p:cNvPr id="4098"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260562" y="2512783"/>
            <a:ext cx="1876425" cy="1597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260562" y="4323342"/>
            <a:ext cx="1907900" cy="176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2" name="图片 51"/>
          <p:cNvPicPr>
            <a:picLocks noChangeAspect="1"/>
          </p:cNvPicPr>
          <p:nvPr/>
        </p:nvPicPr>
        <p:blipFill>
          <a:blip r:embed="rId4"/>
          <a:stretch>
            <a:fillRect/>
          </a:stretch>
        </p:blipFill>
        <p:spPr>
          <a:xfrm>
            <a:off x="3276600" y="2508496"/>
            <a:ext cx="1838095" cy="1565038"/>
          </a:xfrm>
          <a:prstGeom prst="rect">
            <a:avLst/>
          </a:prstGeom>
        </p:spPr>
      </p:pic>
      <p:pic>
        <p:nvPicPr>
          <p:cNvPr id="53" name="图片 52"/>
          <p:cNvPicPr>
            <a:picLocks noChangeAspect="1"/>
          </p:cNvPicPr>
          <p:nvPr/>
        </p:nvPicPr>
        <p:blipFill>
          <a:blip r:embed="rId5"/>
          <a:stretch>
            <a:fillRect/>
          </a:stretch>
        </p:blipFill>
        <p:spPr>
          <a:xfrm>
            <a:off x="3271155" y="4313045"/>
            <a:ext cx="1838095" cy="1774010"/>
          </a:xfrm>
          <a:prstGeom prst="rect">
            <a:avLst/>
          </a:prstGeom>
        </p:spPr>
      </p:pic>
      <p:pic>
        <p:nvPicPr>
          <p:cNvPr id="54" name="图片 53"/>
          <p:cNvPicPr>
            <a:picLocks noChangeAspect="1"/>
          </p:cNvPicPr>
          <p:nvPr/>
        </p:nvPicPr>
        <p:blipFill>
          <a:blip r:embed="rId6"/>
          <a:stretch>
            <a:fillRect/>
          </a:stretch>
        </p:blipFill>
        <p:spPr>
          <a:xfrm>
            <a:off x="5254308" y="2497678"/>
            <a:ext cx="1876425" cy="1575856"/>
          </a:xfrm>
          <a:prstGeom prst="rect">
            <a:avLst/>
          </a:prstGeom>
        </p:spPr>
      </p:pic>
      <p:pic>
        <p:nvPicPr>
          <p:cNvPr id="56" name="图片 55"/>
          <p:cNvPicPr>
            <a:picLocks noChangeAspect="1"/>
          </p:cNvPicPr>
          <p:nvPr/>
        </p:nvPicPr>
        <p:blipFill rotWithShape="1">
          <a:blip r:embed="rId7"/>
          <a:srcRect r="73732"/>
          <a:stretch>
            <a:fillRect/>
          </a:stretch>
        </p:blipFill>
        <p:spPr>
          <a:xfrm>
            <a:off x="5254307" y="4282562"/>
            <a:ext cx="1876425" cy="1804493"/>
          </a:xfrm>
          <a:prstGeom prst="rect">
            <a:avLst/>
          </a:prstGeom>
        </p:spPr>
      </p:pic>
      <p:pic>
        <p:nvPicPr>
          <p:cNvPr id="57" name="图片 56"/>
          <p:cNvPicPr>
            <a:picLocks noChangeAspect="1"/>
          </p:cNvPicPr>
          <p:nvPr/>
        </p:nvPicPr>
        <p:blipFill>
          <a:blip r:embed="rId8"/>
          <a:stretch>
            <a:fillRect/>
          </a:stretch>
        </p:blipFill>
        <p:spPr>
          <a:xfrm>
            <a:off x="7251066" y="2497678"/>
            <a:ext cx="1679417" cy="1562790"/>
          </a:xfrm>
          <a:prstGeom prst="rect">
            <a:avLst/>
          </a:prstGeom>
        </p:spPr>
      </p:pic>
      <p:pic>
        <p:nvPicPr>
          <p:cNvPr id="58" name="图片 57"/>
          <p:cNvPicPr>
            <a:picLocks noChangeAspect="1"/>
          </p:cNvPicPr>
          <p:nvPr/>
        </p:nvPicPr>
        <p:blipFill>
          <a:blip r:embed="rId9"/>
          <a:stretch>
            <a:fillRect/>
          </a:stretch>
        </p:blipFill>
        <p:spPr>
          <a:xfrm>
            <a:off x="7275789" y="4282561"/>
            <a:ext cx="1654942" cy="1776745"/>
          </a:xfrm>
          <a:prstGeom prst="rect">
            <a:avLst/>
          </a:prstGeom>
        </p:spPr>
      </p:pic>
      <p:pic>
        <p:nvPicPr>
          <p:cNvPr id="60" name="图片 59"/>
          <p:cNvPicPr>
            <a:picLocks noChangeAspect="1"/>
          </p:cNvPicPr>
          <p:nvPr/>
        </p:nvPicPr>
        <p:blipFill>
          <a:blip r:embed="rId10"/>
          <a:stretch>
            <a:fillRect/>
          </a:stretch>
        </p:blipFill>
        <p:spPr>
          <a:xfrm>
            <a:off x="9050816" y="2508496"/>
            <a:ext cx="1669708" cy="1551972"/>
          </a:xfrm>
          <a:prstGeom prst="rect">
            <a:avLst/>
          </a:prstGeom>
        </p:spPr>
      </p:pic>
      <p:pic>
        <p:nvPicPr>
          <p:cNvPr id="61" name="图片 60"/>
          <p:cNvPicPr>
            <a:picLocks noChangeAspect="1"/>
          </p:cNvPicPr>
          <p:nvPr/>
        </p:nvPicPr>
        <p:blipFill>
          <a:blip r:embed="rId11"/>
          <a:stretch>
            <a:fillRect/>
          </a:stretch>
        </p:blipFill>
        <p:spPr>
          <a:xfrm>
            <a:off x="9050816" y="4282560"/>
            <a:ext cx="3040013" cy="1776745"/>
          </a:xfrm>
          <a:prstGeom prst="rect">
            <a:avLst/>
          </a:prstGeom>
        </p:spPr>
      </p:pic>
      <p:pic>
        <p:nvPicPr>
          <p:cNvPr id="62" name="图片 61"/>
          <p:cNvPicPr>
            <a:picLocks noChangeAspect="1"/>
          </p:cNvPicPr>
          <p:nvPr/>
        </p:nvPicPr>
        <p:blipFill>
          <a:blip r:embed="rId12"/>
          <a:stretch>
            <a:fillRect/>
          </a:stretch>
        </p:blipFill>
        <p:spPr>
          <a:xfrm>
            <a:off x="10720524" y="2508496"/>
            <a:ext cx="1370305" cy="155197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grpSp>
        <p:nvGrpSpPr>
          <p:cNvPr id="19" name="Group 19"/>
          <p:cNvGrpSpPr/>
          <p:nvPr/>
        </p:nvGrpSpPr>
        <p:grpSpPr>
          <a:xfrm>
            <a:off x="454963" y="93878"/>
            <a:ext cx="10641129" cy="826316"/>
            <a:chOff x="454963" y="93878"/>
            <a:chExt cx="10641129" cy="826316"/>
          </a:xfrm>
        </p:grpSpPr>
        <p:sp>
          <p:nvSpPr>
            <p:cNvPr id="20" name="AutoShape 20"/>
            <p:cNvSpPr/>
            <p:nvPr/>
          </p:nvSpPr>
          <p:spPr>
            <a:xfrm>
              <a:off x="454963" y="331168"/>
              <a:ext cx="84147" cy="84147"/>
            </a:xfrm>
            <a:prstGeom prst="ellipse">
              <a:avLst/>
            </a:prstGeom>
            <a:solidFill>
              <a:schemeClr val="accent1">
                <a:alpha val="100000"/>
              </a:schemeClr>
            </a:solidFill>
          </p:spPr>
        </p:sp>
        <p:sp>
          <p:nvSpPr>
            <p:cNvPr id="21" name="AutoShape 21"/>
            <p:cNvSpPr/>
            <p:nvPr/>
          </p:nvSpPr>
          <p:spPr>
            <a:xfrm>
              <a:off x="575049" y="337743"/>
              <a:ext cx="78137" cy="78137"/>
            </a:xfrm>
            <a:prstGeom prst="ellipse">
              <a:avLst/>
            </a:prstGeom>
            <a:solidFill>
              <a:schemeClr val="accent1">
                <a:alpha val="80000"/>
              </a:schemeClr>
            </a:solidFill>
          </p:spPr>
        </p:sp>
        <p:sp>
          <p:nvSpPr>
            <p:cNvPr id="22" name="AutoShape 22"/>
            <p:cNvSpPr/>
            <p:nvPr/>
          </p:nvSpPr>
          <p:spPr>
            <a:xfrm>
              <a:off x="689125" y="339460"/>
              <a:ext cx="74704" cy="74704"/>
            </a:xfrm>
            <a:prstGeom prst="ellipse">
              <a:avLst/>
            </a:prstGeom>
            <a:solidFill>
              <a:schemeClr val="accent1">
                <a:alpha val="60000"/>
              </a:schemeClr>
            </a:solidFill>
          </p:spPr>
        </p:sp>
        <p:sp>
          <p:nvSpPr>
            <p:cNvPr id="23" name="AutoShape 23"/>
            <p:cNvSpPr/>
            <p:nvPr/>
          </p:nvSpPr>
          <p:spPr>
            <a:xfrm>
              <a:off x="799768" y="348430"/>
              <a:ext cx="69238" cy="69238"/>
            </a:xfrm>
            <a:prstGeom prst="ellipse">
              <a:avLst/>
            </a:prstGeom>
            <a:solidFill>
              <a:schemeClr val="accent1">
                <a:alpha val="40000"/>
              </a:schemeClr>
            </a:solidFill>
          </p:spPr>
        </p:sp>
        <p:sp>
          <p:nvSpPr>
            <p:cNvPr id="24" name="AutoShape 24"/>
            <p:cNvSpPr/>
            <p:nvPr/>
          </p:nvSpPr>
          <p:spPr>
            <a:xfrm>
              <a:off x="904945" y="344297"/>
              <a:ext cx="65594" cy="65594"/>
            </a:xfrm>
            <a:prstGeom prst="ellipse">
              <a:avLst/>
            </a:prstGeom>
            <a:solidFill>
              <a:schemeClr val="accent1">
                <a:alpha val="20000"/>
              </a:schemeClr>
            </a:solidFill>
          </p:spPr>
        </p:sp>
        <p:sp>
          <p:nvSpPr>
            <p:cNvPr id="25" name="AutoShape 25"/>
            <p:cNvSpPr/>
            <p:nvPr/>
          </p:nvSpPr>
          <p:spPr>
            <a:xfrm>
              <a:off x="454963" y="448942"/>
              <a:ext cx="84147" cy="84147"/>
            </a:xfrm>
            <a:prstGeom prst="ellipse">
              <a:avLst/>
            </a:prstGeom>
            <a:solidFill>
              <a:schemeClr val="accent1">
                <a:alpha val="100000"/>
              </a:schemeClr>
            </a:solidFill>
          </p:spPr>
        </p:sp>
        <p:sp>
          <p:nvSpPr>
            <p:cNvPr id="26" name="AutoShape 26"/>
            <p:cNvSpPr/>
            <p:nvPr/>
          </p:nvSpPr>
          <p:spPr>
            <a:xfrm>
              <a:off x="575049" y="455517"/>
              <a:ext cx="78137" cy="78137"/>
            </a:xfrm>
            <a:prstGeom prst="ellipse">
              <a:avLst/>
            </a:prstGeom>
            <a:solidFill>
              <a:schemeClr val="accent1">
                <a:alpha val="80000"/>
              </a:schemeClr>
            </a:solidFill>
          </p:spPr>
        </p:sp>
        <p:sp>
          <p:nvSpPr>
            <p:cNvPr id="27" name="AutoShape 27"/>
            <p:cNvSpPr/>
            <p:nvPr/>
          </p:nvSpPr>
          <p:spPr>
            <a:xfrm>
              <a:off x="689125" y="457233"/>
              <a:ext cx="74704" cy="74704"/>
            </a:xfrm>
            <a:prstGeom prst="ellipse">
              <a:avLst/>
            </a:prstGeom>
            <a:solidFill>
              <a:schemeClr val="accent1">
                <a:alpha val="60000"/>
              </a:schemeClr>
            </a:solidFill>
          </p:spPr>
        </p:sp>
        <p:sp>
          <p:nvSpPr>
            <p:cNvPr id="28" name="AutoShape 28"/>
            <p:cNvSpPr/>
            <p:nvPr/>
          </p:nvSpPr>
          <p:spPr>
            <a:xfrm>
              <a:off x="799768" y="466203"/>
              <a:ext cx="69238" cy="69238"/>
            </a:xfrm>
            <a:prstGeom prst="ellipse">
              <a:avLst/>
            </a:prstGeom>
            <a:solidFill>
              <a:schemeClr val="accent1">
                <a:alpha val="40000"/>
              </a:schemeClr>
            </a:solidFill>
          </p:spPr>
        </p:sp>
        <p:sp>
          <p:nvSpPr>
            <p:cNvPr id="29" name="AutoShape 29"/>
            <p:cNvSpPr/>
            <p:nvPr/>
          </p:nvSpPr>
          <p:spPr>
            <a:xfrm>
              <a:off x="904945" y="462070"/>
              <a:ext cx="65594" cy="65594"/>
            </a:xfrm>
            <a:prstGeom prst="ellipse">
              <a:avLst/>
            </a:prstGeom>
            <a:solidFill>
              <a:schemeClr val="accent1">
                <a:alpha val="20000"/>
              </a:schemeClr>
            </a:solidFill>
          </p:spPr>
        </p:sp>
        <p:sp>
          <p:nvSpPr>
            <p:cNvPr id="30" name="AutoShape 30"/>
            <p:cNvSpPr/>
            <p:nvPr/>
          </p:nvSpPr>
          <p:spPr>
            <a:xfrm>
              <a:off x="454963" y="566715"/>
              <a:ext cx="84147" cy="84147"/>
            </a:xfrm>
            <a:prstGeom prst="ellipse">
              <a:avLst/>
            </a:prstGeom>
            <a:solidFill>
              <a:schemeClr val="accent1">
                <a:alpha val="100000"/>
              </a:schemeClr>
            </a:solidFill>
          </p:spPr>
        </p:sp>
        <p:sp>
          <p:nvSpPr>
            <p:cNvPr id="31" name="AutoShape 31"/>
            <p:cNvSpPr/>
            <p:nvPr/>
          </p:nvSpPr>
          <p:spPr>
            <a:xfrm>
              <a:off x="575049" y="573291"/>
              <a:ext cx="78137" cy="78137"/>
            </a:xfrm>
            <a:prstGeom prst="ellipse">
              <a:avLst/>
            </a:prstGeom>
            <a:solidFill>
              <a:schemeClr val="accent1">
                <a:alpha val="80000"/>
              </a:schemeClr>
            </a:solidFill>
          </p:spPr>
        </p:sp>
        <p:sp>
          <p:nvSpPr>
            <p:cNvPr id="32" name="AutoShape 32"/>
            <p:cNvSpPr/>
            <p:nvPr/>
          </p:nvSpPr>
          <p:spPr>
            <a:xfrm>
              <a:off x="689125" y="575007"/>
              <a:ext cx="74704" cy="74704"/>
            </a:xfrm>
            <a:prstGeom prst="ellipse">
              <a:avLst/>
            </a:prstGeom>
            <a:solidFill>
              <a:schemeClr val="accent1">
                <a:alpha val="60000"/>
              </a:schemeClr>
            </a:solidFill>
          </p:spPr>
        </p:sp>
        <p:sp>
          <p:nvSpPr>
            <p:cNvPr id="33" name="AutoShape 33"/>
            <p:cNvSpPr/>
            <p:nvPr/>
          </p:nvSpPr>
          <p:spPr>
            <a:xfrm>
              <a:off x="799768" y="583977"/>
              <a:ext cx="69238" cy="69238"/>
            </a:xfrm>
            <a:prstGeom prst="ellipse">
              <a:avLst/>
            </a:prstGeom>
            <a:solidFill>
              <a:schemeClr val="accent1">
                <a:alpha val="40000"/>
              </a:schemeClr>
            </a:solidFill>
          </p:spPr>
        </p:sp>
        <p:sp>
          <p:nvSpPr>
            <p:cNvPr id="34" name="AutoShape 34"/>
            <p:cNvSpPr/>
            <p:nvPr/>
          </p:nvSpPr>
          <p:spPr>
            <a:xfrm>
              <a:off x="904945" y="579844"/>
              <a:ext cx="65594" cy="65594"/>
            </a:xfrm>
            <a:prstGeom prst="ellipse">
              <a:avLst/>
            </a:prstGeom>
            <a:solidFill>
              <a:schemeClr val="accent1">
                <a:alpha val="20000"/>
              </a:schemeClr>
            </a:solidFill>
          </p:spPr>
        </p:sp>
        <p:sp>
          <p:nvSpPr>
            <p:cNvPr id="35" name="AutoShape 35"/>
            <p:cNvSpPr/>
            <p:nvPr/>
          </p:nvSpPr>
          <p:spPr>
            <a:xfrm>
              <a:off x="454963" y="684489"/>
              <a:ext cx="84147" cy="84147"/>
            </a:xfrm>
            <a:prstGeom prst="ellipse">
              <a:avLst/>
            </a:prstGeom>
            <a:solidFill>
              <a:schemeClr val="accent1">
                <a:alpha val="100000"/>
              </a:schemeClr>
            </a:solidFill>
          </p:spPr>
        </p:sp>
        <p:sp>
          <p:nvSpPr>
            <p:cNvPr id="36" name="AutoShape 36"/>
            <p:cNvSpPr/>
            <p:nvPr/>
          </p:nvSpPr>
          <p:spPr>
            <a:xfrm>
              <a:off x="575049" y="691064"/>
              <a:ext cx="78137" cy="78137"/>
            </a:xfrm>
            <a:prstGeom prst="ellipse">
              <a:avLst/>
            </a:prstGeom>
            <a:solidFill>
              <a:schemeClr val="accent1">
                <a:alpha val="80000"/>
              </a:schemeClr>
            </a:solidFill>
          </p:spPr>
        </p:sp>
        <p:sp>
          <p:nvSpPr>
            <p:cNvPr id="37" name="AutoShape 37"/>
            <p:cNvSpPr/>
            <p:nvPr/>
          </p:nvSpPr>
          <p:spPr>
            <a:xfrm>
              <a:off x="689125" y="692781"/>
              <a:ext cx="74704" cy="74704"/>
            </a:xfrm>
            <a:prstGeom prst="ellipse">
              <a:avLst/>
            </a:prstGeom>
            <a:solidFill>
              <a:schemeClr val="accent1">
                <a:alpha val="60000"/>
              </a:schemeClr>
            </a:solidFill>
          </p:spPr>
        </p:sp>
        <p:sp>
          <p:nvSpPr>
            <p:cNvPr id="38" name="AutoShape 38"/>
            <p:cNvSpPr/>
            <p:nvPr/>
          </p:nvSpPr>
          <p:spPr>
            <a:xfrm>
              <a:off x="799768" y="701751"/>
              <a:ext cx="69238" cy="69238"/>
            </a:xfrm>
            <a:prstGeom prst="ellipse">
              <a:avLst/>
            </a:prstGeom>
            <a:solidFill>
              <a:schemeClr val="accent1">
                <a:alpha val="40000"/>
              </a:schemeClr>
            </a:solidFill>
          </p:spPr>
        </p:sp>
        <p:sp>
          <p:nvSpPr>
            <p:cNvPr id="39" name="AutoShape 39"/>
            <p:cNvSpPr/>
            <p:nvPr/>
          </p:nvSpPr>
          <p:spPr>
            <a:xfrm>
              <a:off x="904945" y="697618"/>
              <a:ext cx="65594" cy="65594"/>
            </a:xfrm>
            <a:prstGeom prst="ellipse">
              <a:avLst/>
            </a:prstGeom>
            <a:solidFill>
              <a:schemeClr val="accent1">
                <a:alpha val="20000"/>
              </a:schemeClr>
            </a:solidFill>
          </p:spPr>
        </p:sp>
        <p:sp>
          <p:nvSpPr>
            <p:cNvPr id="40" name="TextBox 40"/>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主要模块详细设计</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 name="AutoShape 17"/>
          <p:cNvSpPr/>
          <p:nvPr/>
        </p:nvSpPr>
        <p:spPr>
          <a:xfrm>
            <a:off x="1241512" y="904467"/>
            <a:ext cx="441594" cy="441594"/>
          </a:xfrm>
          <a:prstGeom prst="rect">
            <a:avLst/>
          </a:prstGeom>
          <a:solidFill>
            <a:schemeClr val="accent1">
              <a:lumMod val="50000"/>
              <a:alpha val="100000"/>
            </a:schemeClr>
          </a:solidFill>
        </p:spPr>
        <p:txBody>
          <a:bodyPr/>
          <a:lstStyle/>
          <a:p>
            <a:endParaRPr lang="zh-CN" altLang="en-US"/>
          </a:p>
        </p:txBody>
      </p:sp>
      <p:sp>
        <p:nvSpPr>
          <p:cNvPr id="5" name="TextBox 18"/>
          <p:cNvSpPr txBox="1"/>
          <p:nvPr/>
        </p:nvSpPr>
        <p:spPr>
          <a:xfrm>
            <a:off x="1241512" y="1007627"/>
            <a:ext cx="438150" cy="261610"/>
          </a:xfrm>
          <a:prstGeom prst="rect">
            <a:avLst/>
          </a:prstGeom>
        </p:spPr>
        <p:txBody>
          <a:bodyPr vert="horz" wrap="square" lIns="85725" tIns="38100" rIns="85725" bIns="38100" rtlCol="0" anchor="ctr" anchorCtr="1">
            <a:spAutoFit/>
          </a:bodyPr>
          <a:lstStyle/>
          <a:p>
            <a:pPr algn="ctr">
              <a:lnSpc>
                <a:spcPct val="80000"/>
              </a:lnSpc>
            </a:pPr>
            <a:r>
              <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rPr>
              <a:t>02</a:t>
            </a:r>
            <a:endPar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0" name="TextBox 14"/>
          <p:cNvSpPr txBox="1"/>
          <p:nvPr/>
        </p:nvSpPr>
        <p:spPr>
          <a:xfrm>
            <a:off x="1740175" y="932847"/>
            <a:ext cx="2222225"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硬件选型及连接电路图</a:t>
            </a:r>
            <a:endParaRPr 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3505200" y="1434868"/>
            <a:ext cx="5867400" cy="744050"/>
          </a:xfrm>
          <a:prstGeom prst="rect">
            <a:avLst/>
          </a:prstGeom>
          <a:noFill/>
        </p:spPr>
        <p:txBody>
          <a:bodyPr wrap="square">
            <a:spAutoFit/>
          </a:bodyPr>
          <a:lstStyle/>
          <a:p>
            <a:pPr indent="457200" algn="just">
              <a:lnSpc>
                <a:spcPct val="150000"/>
              </a:lnSpc>
              <a:spcBef>
                <a:spcPts val="375"/>
              </a:spcBef>
              <a:defRPr/>
            </a:pPr>
            <a:r>
              <a:rPr lang="zh-CN" altLang="en-US" sz="1500" dirty="0">
                <a:solidFill>
                  <a:schemeClr val="dk1">
                    <a:alpha val="100000"/>
                  </a:schemeClr>
                </a:solidFill>
                <a:latin typeface="微软雅黑" panose="020B0503020204020204" charset="-122"/>
                <a:ea typeface="微软雅黑" panose="020B0503020204020204" charset="-122"/>
              </a:rPr>
              <a:t>采用的补光灯，</a:t>
            </a:r>
            <a:r>
              <a:rPr lang="en-US" altLang="zh-CN" sz="1500" dirty="0">
                <a:solidFill>
                  <a:schemeClr val="dk1">
                    <a:alpha val="100000"/>
                  </a:schemeClr>
                </a:solidFill>
                <a:latin typeface="微软雅黑" panose="020B0503020204020204" charset="-122"/>
                <a:ea typeface="微软雅黑" panose="020B0503020204020204" charset="-122"/>
              </a:rPr>
              <a:t>OLED</a:t>
            </a:r>
            <a:r>
              <a:rPr lang="zh-CN" altLang="en-US" sz="1500" dirty="0">
                <a:solidFill>
                  <a:schemeClr val="dk1">
                    <a:alpha val="100000"/>
                  </a:schemeClr>
                </a:solidFill>
                <a:latin typeface="微软雅黑" panose="020B0503020204020204" charset="-122"/>
                <a:ea typeface="微软雅黑" panose="020B0503020204020204" charset="-122"/>
              </a:rPr>
              <a:t>显示屏，</a:t>
            </a:r>
            <a:r>
              <a:rPr lang="en-US" altLang="zh-CN" sz="1500" dirty="0">
                <a:solidFill>
                  <a:schemeClr val="dk1">
                    <a:alpha val="100000"/>
                  </a:schemeClr>
                </a:solidFill>
                <a:latin typeface="微软雅黑" panose="020B0503020204020204" charset="-122"/>
                <a:ea typeface="微软雅黑" panose="020B0503020204020204" charset="-122"/>
              </a:rPr>
              <a:t>LoRa</a:t>
            </a:r>
            <a:r>
              <a:rPr lang="zh-CN" altLang="en-US" sz="1500" dirty="0">
                <a:solidFill>
                  <a:schemeClr val="dk1">
                    <a:alpha val="100000"/>
                  </a:schemeClr>
                </a:solidFill>
                <a:latin typeface="微软雅黑" panose="020B0503020204020204" charset="-122"/>
                <a:ea typeface="微软雅黑" panose="020B0503020204020204" charset="-122"/>
              </a:rPr>
              <a:t>模块、</a:t>
            </a:r>
            <a:r>
              <a:rPr lang="en-US" altLang="zh-CN" sz="1500" dirty="0">
                <a:solidFill>
                  <a:schemeClr val="dk1">
                    <a:alpha val="100000"/>
                  </a:schemeClr>
                </a:solidFill>
                <a:latin typeface="微软雅黑" panose="020B0503020204020204" charset="-122"/>
                <a:ea typeface="微软雅黑" panose="020B0503020204020204" charset="-122"/>
              </a:rPr>
              <a:t>WIFI</a:t>
            </a:r>
            <a:r>
              <a:rPr lang="zh-CN" altLang="en-US" sz="1500" dirty="0">
                <a:solidFill>
                  <a:schemeClr val="dk1">
                    <a:alpha val="100000"/>
                  </a:schemeClr>
                </a:solidFill>
                <a:latin typeface="微软雅黑" panose="020B0503020204020204" charset="-122"/>
                <a:ea typeface="微软雅黑" panose="020B0503020204020204" charset="-122"/>
              </a:rPr>
              <a:t>模块和摄像显示模块的实物图以及连接电路图如下：</a:t>
            </a:r>
            <a:endParaRPr lang="zh-CN" altLang="en-US" sz="1500" dirty="0">
              <a:solidFill>
                <a:schemeClr val="dk1">
                  <a:alpha val="100000"/>
                </a:schemeClr>
              </a:solidFill>
              <a:latin typeface="微软雅黑" panose="020B0503020204020204" charset="-122"/>
              <a:ea typeface="微软雅黑" panose="020B0503020204020204" charset="-122"/>
            </a:endParaRPr>
          </a:p>
        </p:txBody>
      </p:sp>
      <p:pic>
        <p:nvPicPr>
          <p:cNvPr id="13" name="图片 12"/>
          <p:cNvPicPr>
            <a:picLocks noChangeAspect="1"/>
          </p:cNvPicPr>
          <p:nvPr/>
        </p:nvPicPr>
        <p:blipFill>
          <a:blip r:embed="rId2"/>
          <a:stretch>
            <a:fillRect/>
          </a:stretch>
        </p:blipFill>
        <p:spPr>
          <a:xfrm>
            <a:off x="1600200" y="2746950"/>
            <a:ext cx="2117774" cy="1694218"/>
          </a:xfrm>
          <a:prstGeom prst="rect">
            <a:avLst/>
          </a:prstGeom>
        </p:spPr>
      </p:pic>
      <p:pic>
        <p:nvPicPr>
          <p:cNvPr id="15" name="图片 14"/>
          <p:cNvPicPr>
            <a:picLocks noChangeAspect="1"/>
          </p:cNvPicPr>
          <p:nvPr/>
        </p:nvPicPr>
        <p:blipFill>
          <a:blip r:embed="rId3"/>
          <a:stretch>
            <a:fillRect/>
          </a:stretch>
        </p:blipFill>
        <p:spPr>
          <a:xfrm>
            <a:off x="1600200" y="5006107"/>
            <a:ext cx="2117774" cy="878755"/>
          </a:xfrm>
          <a:prstGeom prst="rect">
            <a:avLst/>
          </a:prstGeom>
        </p:spPr>
      </p:pic>
      <p:pic>
        <p:nvPicPr>
          <p:cNvPr id="18" name="图片 17"/>
          <p:cNvPicPr>
            <a:picLocks noChangeAspect="1"/>
          </p:cNvPicPr>
          <p:nvPr/>
        </p:nvPicPr>
        <p:blipFill rotWithShape="1">
          <a:blip r:embed="rId4"/>
          <a:srcRect l="3282" t="5977" r="6588"/>
          <a:stretch>
            <a:fillRect/>
          </a:stretch>
        </p:blipFill>
        <p:spPr>
          <a:xfrm>
            <a:off x="3789300" y="2749073"/>
            <a:ext cx="2064876" cy="1694217"/>
          </a:xfrm>
          <a:prstGeom prst="rect">
            <a:avLst/>
          </a:prstGeom>
        </p:spPr>
      </p:pic>
      <p:pic>
        <p:nvPicPr>
          <p:cNvPr id="46" name="图片 4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89301" y="4447517"/>
            <a:ext cx="2064875" cy="1866900"/>
          </a:xfrm>
          <a:prstGeom prst="rect">
            <a:avLst/>
          </a:prstGeom>
        </p:spPr>
      </p:pic>
      <p:pic>
        <p:nvPicPr>
          <p:cNvPr id="48" name="图片 47"/>
          <p:cNvPicPr>
            <a:picLocks noChangeAspect="1"/>
          </p:cNvPicPr>
          <p:nvPr/>
        </p:nvPicPr>
        <p:blipFill rotWithShape="1">
          <a:blip r:embed="rId6"/>
          <a:srcRect r="24575"/>
          <a:stretch>
            <a:fillRect/>
          </a:stretch>
        </p:blipFill>
        <p:spPr>
          <a:xfrm>
            <a:off x="5925502" y="2721550"/>
            <a:ext cx="2064877" cy="1694217"/>
          </a:xfrm>
          <a:prstGeom prst="rect">
            <a:avLst/>
          </a:prstGeom>
        </p:spPr>
      </p:pic>
      <p:pic>
        <p:nvPicPr>
          <p:cNvPr id="50" name="图片 4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925504" y="4485401"/>
            <a:ext cx="2064875" cy="1791132"/>
          </a:xfrm>
          <a:prstGeom prst="rect">
            <a:avLst/>
          </a:prstGeom>
        </p:spPr>
      </p:pic>
      <p:pic>
        <p:nvPicPr>
          <p:cNvPr id="51" name="图片 50"/>
          <p:cNvPicPr>
            <a:picLocks noChangeAspect="1"/>
          </p:cNvPicPr>
          <p:nvPr/>
        </p:nvPicPr>
        <p:blipFill rotWithShape="1">
          <a:blip r:embed="rId8"/>
          <a:srcRect t="5714" r="2440"/>
          <a:stretch>
            <a:fillRect/>
          </a:stretch>
        </p:blipFill>
        <p:spPr>
          <a:xfrm>
            <a:off x="8061704" y="2712642"/>
            <a:ext cx="2509396" cy="1694217"/>
          </a:xfrm>
          <a:prstGeom prst="rect">
            <a:avLst/>
          </a:prstGeom>
        </p:spPr>
      </p:pic>
      <p:pic>
        <p:nvPicPr>
          <p:cNvPr id="52" name="图片 51"/>
          <p:cNvPicPr>
            <a:picLocks noChangeAspect="1"/>
          </p:cNvPicPr>
          <p:nvPr/>
        </p:nvPicPr>
        <p:blipFill rotWithShape="1">
          <a:blip r:embed="rId9"/>
          <a:srcRect l="2393" t="6096" r="12843" b="9142"/>
          <a:stretch>
            <a:fillRect/>
          </a:stretch>
        </p:blipFill>
        <p:spPr>
          <a:xfrm>
            <a:off x="8061705" y="4447168"/>
            <a:ext cx="2509396" cy="1791132"/>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grpSp>
        <p:nvGrpSpPr>
          <p:cNvPr id="19" name="Group 19"/>
          <p:cNvGrpSpPr/>
          <p:nvPr/>
        </p:nvGrpSpPr>
        <p:grpSpPr>
          <a:xfrm>
            <a:off x="454963" y="93878"/>
            <a:ext cx="10641129" cy="826316"/>
            <a:chOff x="454963" y="93878"/>
            <a:chExt cx="10641129" cy="826316"/>
          </a:xfrm>
        </p:grpSpPr>
        <p:sp>
          <p:nvSpPr>
            <p:cNvPr id="20" name="AutoShape 20"/>
            <p:cNvSpPr/>
            <p:nvPr/>
          </p:nvSpPr>
          <p:spPr>
            <a:xfrm>
              <a:off x="454963" y="331168"/>
              <a:ext cx="84147" cy="84147"/>
            </a:xfrm>
            <a:prstGeom prst="ellipse">
              <a:avLst/>
            </a:prstGeom>
            <a:solidFill>
              <a:schemeClr val="accent1">
                <a:alpha val="100000"/>
              </a:schemeClr>
            </a:solidFill>
          </p:spPr>
        </p:sp>
        <p:sp>
          <p:nvSpPr>
            <p:cNvPr id="21" name="AutoShape 21"/>
            <p:cNvSpPr/>
            <p:nvPr/>
          </p:nvSpPr>
          <p:spPr>
            <a:xfrm>
              <a:off x="575049" y="337743"/>
              <a:ext cx="78137" cy="78137"/>
            </a:xfrm>
            <a:prstGeom prst="ellipse">
              <a:avLst/>
            </a:prstGeom>
            <a:solidFill>
              <a:schemeClr val="accent1">
                <a:alpha val="80000"/>
              </a:schemeClr>
            </a:solidFill>
          </p:spPr>
        </p:sp>
        <p:sp>
          <p:nvSpPr>
            <p:cNvPr id="22" name="AutoShape 22"/>
            <p:cNvSpPr/>
            <p:nvPr/>
          </p:nvSpPr>
          <p:spPr>
            <a:xfrm>
              <a:off x="689125" y="339460"/>
              <a:ext cx="74704" cy="74704"/>
            </a:xfrm>
            <a:prstGeom prst="ellipse">
              <a:avLst/>
            </a:prstGeom>
            <a:solidFill>
              <a:schemeClr val="accent1">
                <a:alpha val="60000"/>
              </a:schemeClr>
            </a:solidFill>
          </p:spPr>
        </p:sp>
        <p:sp>
          <p:nvSpPr>
            <p:cNvPr id="23" name="AutoShape 23"/>
            <p:cNvSpPr/>
            <p:nvPr/>
          </p:nvSpPr>
          <p:spPr>
            <a:xfrm>
              <a:off x="799768" y="348430"/>
              <a:ext cx="69238" cy="69238"/>
            </a:xfrm>
            <a:prstGeom prst="ellipse">
              <a:avLst/>
            </a:prstGeom>
            <a:solidFill>
              <a:schemeClr val="accent1">
                <a:alpha val="40000"/>
              </a:schemeClr>
            </a:solidFill>
          </p:spPr>
        </p:sp>
        <p:sp>
          <p:nvSpPr>
            <p:cNvPr id="24" name="AutoShape 24"/>
            <p:cNvSpPr/>
            <p:nvPr/>
          </p:nvSpPr>
          <p:spPr>
            <a:xfrm>
              <a:off x="904945" y="344297"/>
              <a:ext cx="65594" cy="65594"/>
            </a:xfrm>
            <a:prstGeom prst="ellipse">
              <a:avLst/>
            </a:prstGeom>
            <a:solidFill>
              <a:schemeClr val="accent1">
                <a:alpha val="20000"/>
              </a:schemeClr>
            </a:solidFill>
          </p:spPr>
        </p:sp>
        <p:sp>
          <p:nvSpPr>
            <p:cNvPr id="25" name="AutoShape 25"/>
            <p:cNvSpPr/>
            <p:nvPr/>
          </p:nvSpPr>
          <p:spPr>
            <a:xfrm>
              <a:off x="454963" y="448942"/>
              <a:ext cx="84147" cy="84147"/>
            </a:xfrm>
            <a:prstGeom prst="ellipse">
              <a:avLst/>
            </a:prstGeom>
            <a:solidFill>
              <a:schemeClr val="accent1">
                <a:alpha val="100000"/>
              </a:schemeClr>
            </a:solidFill>
          </p:spPr>
        </p:sp>
        <p:sp>
          <p:nvSpPr>
            <p:cNvPr id="26" name="AutoShape 26"/>
            <p:cNvSpPr/>
            <p:nvPr/>
          </p:nvSpPr>
          <p:spPr>
            <a:xfrm>
              <a:off x="575049" y="455517"/>
              <a:ext cx="78137" cy="78137"/>
            </a:xfrm>
            <a:prstGeom prst="ellipse">
              <a:avLst/>
            </a:prstGeom>
            <a:solidFill>
              <a:schemeClr val="accent1">
                <a:alpha val="80000"/>
              </a:schemeClr>
            </a:solidFill>
          </p:spPr>
        </p:sp>
        <p:sp>
          <p:nvSpPr>
            <p:cNvPr id="27" name="AutoShape 27"/>
            <p:cNvSpPr/>
            <p:nvPr/>
          </p:nvSpPr>
          <p:spPr>
            <a:xfrm>
              <a:off x="689125" y="457233"/>
              <a:ext cx="74704" cy="74704"/>
            </a:xfrm>
            <a:prstGeom prst="ellipse">
              <a:avLst/>
            </a:prstGeom>
            <a:solidFill>
              <a:schemeClr val="accent1">
                <a:alpha val="60000"/>
              </a:schemeClr>
            </a:solidFill>
          </p:spPr>
        </p:sp>
        <p:sp>
          <p:nvSpPr>
            <p:cNvPr id="28" name="AutoShape 28"/>
            <p:cNvSpPr/>
            <p:nvPr/>
          </p:nvSpPr>
          <p:spPr>
            <a:xfrm>
              <a:off x="799768" y="466203"/>
              <a:ext cx="69238" cy="69238"/>
            </a:xfrm>
            <a:prstGeom prst="ellipse">
              <a:avLst/>
            </a:prstGeom>
            <a:solidFill>
              <a:schemeClr val="accent1">
                <a:alpha val="40000"/>
              </a:schemeClr>
            </a:solidFill>
          </p:spPr>
        </p:sp>
        <p:sp>
          <p:nvSpPr>
            <p:cNvPr id="29" name="AutoShape 29"/>
            <p:cNvSpPr/>
            <p:nvPr/>
          </p:nvSpPr>
          <p:spPr>
            <a:xfrm>
              <a:off x="904945" y="462070"/>
              <a:ext cx="65594" cy="65594"/>
            </a:xfrm>
            <a:prstGeom prst="ellipse">
              <a:avLst/>
            </a:prstGeom>
            <a:solidFill>
              <a:schemeClr val="accent1">
                <a:alpha val="20000"/>
              </a:schemeClr>
            </a:solidFill>
          </p:spPr>
        </p:sp>
        <p:sp>
          <p:nvSpPr>
            <p:cNvPr id="30" name="AutoShape 30"/>
            <p:cNvSpPr/>
            <p:nvPr/>
          </p:nvSpPr>
          <p:spPr>
            <a:xfrm>
              <a:off x="454963" y="566715"/>
              <a:ext cx="84147" cy="84147"/>
            </a:xfrm>
            <a:prstGeom prst="ellipse">
              <a:avLst/>
            </a:prstGeom>
            <a:solidFill>
              <a:schemeClr val="accent1">
                <a:alpha val="100000"/>
              </a:schemeClr>
            </a:solidFill>
          </p:spPr>
        </p:sp>
        <p:sp>
          <p:nvSpPr>
            <p:cNvPr id="31" name="AutoShape 31"/>
            <p:cNvSpPr/>
            <p:nvPr/>
          </p:nvSpPr>
          <p:spPr>
            <a:xfrm>
              <a:off x="575049" y="573291"/>
              <a:ext cx="78137" cy="78137"/>
            </a:xfrm>
            <a:prstGeom prst="ellipse">
              <a:avLst/>
            </a:prstGeom>
            <a:solidFill>
              <a:schemeClr val="accent1">
                <a:alpha val="80000"/>
              </a:schemeClr>
            </a:solidFill>
          </p:spPr>
        </p:sp>
        <p:sp>
          <p:nvSpPr>
            <p:cNvPr id="32" name="AutoShape 32"/>
            <p:cNvSpPr/>
            <p:nvPr/>
          </p:nvSpPr>
          <p:spPr>
            <a:xfrm>
              <a:off x="689125" y="575007"/>
              <a:ext cx="74704" cy="74704"/>
            </a:xfrm>
            <a:prstGeom prst="ellipse">
              <a:avLst/>
            </a:prstGeom>
            <a:solidFill>
              <a:schemeClr val="accent1">
                <a:alpha val="60000"/>
              </a:schemeClr>
            </a:solidFill>
          </p:spPr>
        </p:sp>
        <p:sp>
          <p:nvSpPr>
            <p:cNvPr id="33" name="AutoShape 33"/>
            <p:cNvSpPr/>
            <p:nvPr/>
          </p:nvSpPr>
          <p:spPr>
            <a:xfrm>
              <a:off x="799768" y="583977"/>
              <a:ext cx="69238" cy="69238"/>
            </a:xfrm>
            <a:prstGeom prst="ellipse">
              <a:avLst/>
            </a:prstGeom>
            <a:solidFill>
              <a:schemeClr val="accent1">
                <a:alpha val="40000"/>
              </a:schemeClr>
            </a:solidFill>
          </p:spPr>
        </p:sp>
        <p:sp>
          <p:nvSpPr>
            <p:cNvPr id="34" name="AutoShape 34"/>
            <p:cNvSpPr/>
            <p:nvPr/>
          </p:nvSpPr>
          <p:spPr>
            <a:xfrm>
              <a:off x="904945" y="579844"/>
              <a:ext cx="65594" cy="65594"/>
            </a:xfrm>
            <a:prstGeom prst="ellipse">
              <a:avLst/>
            </a:prstGeom>
            <a:solidFill>
              <a:schemeClr val="accent1">
                <a:alpha val="20000"/>
              </a:schemeClr>
            </a:solidFill>
          </p:spPr>
        </p:sp>
        <p:sp>
          <p:nvSpPr>
            <p:cNvPr id="35" name="AutoShape 35"/>
            <p:cNvSpPr/>
            <p:nvPr/>
          </p:nvSpPr>
          <p:spPr>
            <a:xfrm>
              <a:off x="454963" y="684489"/>
              <a:ext cx="84147" cy="84147"/>
            </a:xfrm>
            <a:prstGeom prst="ellipse">
              <a:avLst/>
            </a:prstGeom>
            <a:solidFill>
              <a:schemeClr val="accent1">
                <a:alpha val="100000"/>
              </a:schemeClr>
            </a:solidFill>
          </p:spPr>
        </p:sp>
        <p:sp>
          <p:nvSpPr>
            <p:cNvPr id="36" name="AutoShape 36"/>
            <p:cNvSpPr/>
            <p:nvPr/>
          </p:nvSpPr>
          <p:spPr>
            <a:xfrm>
              <a:off x="575049" y="691064"/>
              <a:ext cx="78137" cy="78137"/>
            </a:xfrm>
            <a:prstGeom prst="ellipse">
              <a:avLst/>
            </a:prstGeom>
            <a:solidFill>
              <a:schemeClr val="accent1">
                <a:alpha val="80000"/>
              </a:schemeClr>
            </a:solidFill>
          </p:spPr>
        </p:sp>
        <p:sp>
          <p:nvSpPr>
            <p:cNvPr id="37" name="AutoShape 37"/>
            <p:cNvSpPr/>
            <p:nvPr/>
          </p:nvSpPr>
          <p:spPr>
            <a:xfrm>
              <a:off x="689125" y="692781"/>
              <a:ext cx="74704" cy="74704"/>
            </a:xfrm>
            <a:prstGeom prst="ellipse">
              <a:avLst/>
            </a:prstGeom>
            <a:solidFill>
              <a:schemeClr val="accent1">
                <a:alpha val="60000"/>
              </a:schemeClr>
            </a:solidFill>
          </p:spPr>
        </p:sp>
        <p:sp>
          <p:nvSpPr>
            <p:cNvPr id="38" name="AutoShape 38"/>
            <p:cNvSpPr/>
            <p:nvPr/>
          </p:nvSpPr>
          <p:spPr>
            <a:xfrm>
              <a:off x="799768" y="701751"/>
              <a:ext cx="69238" cy="69238"/>
            </a:xfrm>
            <a:prstGeom prst="ellipse">
              <a:avLst/>
            </a:prstGeom>
            <a:solidFill>
              <a:schemeClr val="accent1">
                <a:alpha val="40000"/>
              </a:schemeClr>
            </a:solidFill>
          </p:spPr>
        </p:sp>
        <p:sp>
          <p:nvSpPr>
            <p:cNvPr id="39" name="AutoShape 39"/>
            <p:cNvSpPr/>
            <p:nvPr/>
          </p:nvSpPr>
          <p:spPr>
            <a:xfrm>
              <a:off x="904945" y="697618"/>
              <a:ext cx="65594" cy="65594"/>
            </a:xfrm>
            <a:prstGeom prst="ellipse">
              <a:avLst/>
            </a:prstGeom>
            <a:solidFill>
              <a:schemeClr val="accent1">
                <a:alpha val="20000"/>
              </a:schemeClr>
            </a:solidFill>
          </p:spPr>
        </p:sp>
        <p:sp>
          <p:nvSpPr>
            <p:cNvPr id="40" name="TextBox 40"/>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主要模块详细设计</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 name="AutoShape 17"/>
          <p:cNvSpPr/>
          <p:nvPr/>
        </p:nvSpPr>
        <p:spPr>
          <a:xfrm>
            <a:off x="1241512" y="904467"/>
            <a:ext cx="441594" cy="441594"/>
          </a:xfrm>
          <a:prstGeom prst="rect">
            <a:avLst/>
          </a:prstGeom>
          <a:solidFill>
            <a:schemeClr val="accent1">
              <a:lumMod val="50000"/>
              <a:alpha val="100000"/>
            </a:schemeClr>
          </a:solidFill>
        </p:spPr>
        <p:txBody>
          <a:bodyPr/>
          <a:lstStyle/>
          <a:p>
            <a:endParaRPr lang="zh-CN" altLang="en-US"/>
          </a:p>
        </p:txBody>
      </p:sp>
      <p:sp>
        <p:nvSpPr>
          <p:cNvPr id="5" name="TextBox 18"/>
          <p:cNvSpPr txBox="1"/>
          <p:nvPr/>
        </p:nvSpPr>
        <p:spPr>
          <a:xfrm>
            <a:off x="1241512" y="1007627"/>
            <a:ext cx="438150" cy="261610"/>
          </a:xfrm>
          <a:prstGeom prst="rect">
            <a:avLst/>
          </a:prstGeom>
        </p:spPr>
        <p:txBody>
          <a:bodyPr vert="horz" wrap="square" lIns="85725" tIns="38100" rIns="85725" bIns="38100" rtlCol="0" anchor="ctr" anchorCtr="1">
            <a:spAutoFit/>
          </a:bodyPr>
          <a:lstStyle/>
          <a:p>
            <a:pPr algn="ctr">
              <a:lnSpc>
                <a:spcPct val="80000"/>
              </a:lnSpc>
            </a:pPr>
            <a:r>
              <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rPr>
              <a:t>01</a:t>
            </a:r>
            <a:endPar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0" name="TextBox 14"/>
          <p:cNvSpPr txBox="1"/>
          <p:nvPr/>
        </p:nvSpPr>
        <p:spPr>
          <a:xfrm>
            <a:off x="1740175" y="932847"/>
            <a:ext cx="2222225"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软件设计思路及实现</a:t>
            </a:r>
            <a:endParaRPr 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9" name="图片 8"/>
          <p:cNvPicPr>
            <a:picLocks noChangeAspect="1"/>
          </p:cNvPicPr>
          <p:nvPr/>
        </p:nvPicPr>
        <p:blipFill>
          <a:blip r:embed="rId2"/>
          <a:stretch>
            <a:fillRect/>
          </a:stretch>
        </p:blipFill>
        <p:spPr>
          <a:xfrm>
            <a:off x="458584" y="1456027"/>
            <a:ext cx="2222225" cy="5073794"/>
          </a:xfrm>
          <a:prstGeom prst="rect">
            <a:avLst/>
          </a:prstGeom>
        </p:spPr>
      </p:pic>
      <p:pic>
        <p:nvPicPr>
          <p:cNvPr id="43" name="图片 42"/>
          <p:cNvPicPr>
            <a:picLocks noChangeAspect="1"/>
          </p:cNvPicPr>
          <p:nvPr/>
        </p:nvPicPr>
        <p:blipFill>
          <a:blip r:embed="rId3"/>
          <a:stretch>
            <a:fillRect/>
          </a:stretch>
        </p:blipFill>
        <p:spPr>
          <a:xfrm>
            <a:off x="2649251" y="1446404"/>
            <a:ext cx="1973226" cy="5114587"/>
          </a:xfrm>
          <a:prstGeom prst="rect">
            <a:avLst/>
          </a:prstGeom>
        </p:spPr>
      </p:pic>
      <p:pic>
        <p:nvPicPr>
          <p:cNvPr id="45" name="图片 44"/>
          <p:cNvPicPr>
            <a:picLocks noChangeAspect="1"/>
          </p:cNvPicPr>
          <p:nvPr/>
        </p:nvPicPr>
        <p:blipFill>
          <a:blip r:embed="rId4"/>
          <a:stretch>
            <a:fillRect/>
          </a:stretch>
        </p:blipFill>
        <p:spPr>
          <a:xfrm>
            <a:off x="8914562" y="3581400"/>
            <a:ext cx="1952639" cy="2948421"/>
          </a:xfrm>
          <a:prstGeom prst="rect">
            <a:avLst/>
          </a:prstGeom>
        </p:spPr>
      </p:pic>
      <p:pic>
        <p:nvPicPr>
          <p:cNvPr id="54" name="图片 53"/>
          <p:cNvPicPr>
            <a:picLocks noChangeAspect="1"/>
          </p:cNvPicPr>
          <p:nvPr/>
        </p:nvPicPr>
        <p:blipFill>
          <a:blip r:embed="rId5"/>
          <a:stretch>
            <a:fillRect/>
          </a:stretch>
        </p:blipFill>
        <p:spPr>
          <a:xfrm>
            <a:off x="6684540" y="1446405"/>
            <a:ext cx="2223644" cy="2546520"/>
          </a:xfrm>
          <a:prstGeom prst="rect">
            <a:avLst/>
          </a:prstGeom>
        </p:spPr>
      </p:pic>
      <p:pic>
        <p:nvPicPr>
          <p:cNvPr id="11" name="图片 10"/>
          <p:cNvPicPr>
            <a:picLocks noChangeAspect="1"/>
          </p:cNvPicPr>
          <p:nvPr/>
        </p:nvPicPr>
        <p:blipFill>
          <a:blip r:embed="rId6"/>
          <a:stretch>
            <a:fillRect/>
          </a:stretch>
        </p:blipFill>
        <p:spPr>
          <a:xfrm>
            <a:off x="4588547" y="4026194"/>
            <a:ext cx="2124091" cy="2486043"/>
          </a:xfrm>
          <a:prstGeom prst="rect">
            <a:avLst/>
          </a:prstGeom>
        </p:spPr>
      </p:pic>
      <p:pic>
        <p:nvPicPr>
          <p:cNvPr id="13" name="图片 12"/>
          <p:cNvPicPr>
            <a:picLocks noChangeAspect="1"/>
          </p:cNvPicPr>
          <p:nvPr/>
        </p:nvPicPr>
        <p:blipFill>
          <a:blip r:embed="rId7"/>
          <a:stretch>
            <a:fillRect/>
          </a:stretch>
        </p:blipFill>
        <p:spPr>
          <a:xfrm>
            <a:off x="4589025" y="1446404"/>
            <a:ext cx="2095515" cy="2600344"/>
          </a:xfrm>
          <a:prstGeom prst="rect">
            <a:avLst/>
          </a:prstGeom>
        </p:spPr>
      </p:pic>
      <p:pic>
        <p:nvPicPr>
          <p:cNvPr id="16" name="图片 15"/>
          <p:cNvPicPr>
            <a:picLocks noChangeAspect="1"/>
          </p:cNvPicPr>
          <p:nvPr/>
        </p:nvPicPr>
        <p:blipFill>
          <a:blip r:embed="rId8"/>
          <a:stretch>
            <a:fillRect/>
          </a:stretch>
        </p:blipFill>
        <p:spPr>
          <a:xfrm>
            <a:off x="6669793" y="4004729"/>
            <a:ext cx="2238391" cy="2486043"/>
          </a:xfrm>
          <a:prstGeom prst="rect">
            <a:avLst/>
          </a:prstGeom>
        </p:spPr>
      </p:pic>
      <p:pic>
        <p:nvPicPr>
          <p:cNvPr id="18" name="图片 17"/>
          <p:cNvPicPr>
            <a:picLocks noChangeAspect="1"/>
          </p:cNvPicPr>
          <p:nvPr/>
        </p:nvPicPr>
        <p:blipFill>
          <a:blip r:embed="rId9"/>
          <a:stretch>
            <a:fillRect/>
          </a:stretch>
        </p:blipFill>
        <p:spPr>
          <a:xfrm>
            <a:off x="8880156" y="1488313"/>
            <a:ext cx="1952639" cy="209308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grpSp>
        <p:nvGrpSpPr>
          <p:cNvPr id="19" name="Group 19"/>
          <p:cNvGrpSpPr/>
          <p:nvPr/>
        </p:nvGrpSpPr>
        <p:grpSpPr>
          <a:xfrm>
            <a:off x="454963" y="93878"/>
            <a:ext cx="10641129" cy="826316"/>
            <a:chOff x="454963" y="93878"/>
            <a:chExt cx="10641129" cy="826316"/>
          </a:xfrm>
        </p:grpSpPr>
        <p:sp>
          <p:nvSpPr>
            <p:cNvPr id="20" name="AutoShape 20"/>
            <p:cNvSpPr/>
            <p:nvPr/>
          </p:nvSpPr>
          <p:spPr>
            <a:xfrm>
              <a:off x="454963" y="331168"/>
              <a:ext cx="84147" cy="84147"/>
            </a:xfrm>
            <a:prstGeom prst="ellipse">
              <a:avLst/>
            </a:prstGeom>
            <a:solidFill>
              <a:schemeClr val="accent1">
                <a:alpha val="100000"/>
              </a:schemeClr>
            </a:solidFill>
          </p:spPr>
        </p:sp>
        <p:sp>
          <p:nvSpPr>
            <p:cNvPr id="21" name="AutoShape 21"/>
            <p:cNvSpPr/>
            <p:nvPr/>
          </p:nvSpPr>
          <p:spPr>
            <a:xfrm>
              <a:off x="575049" y="337743"/>
              <a:ext cx="78137" cy="78137"/>
            </a:xfrm>
            <a:prstGeom prst="ellipse">
              <a:avLst/>
            </a:prstGeom>
            <a:solidFill>
              <a:schemeClr val="accent1">
                <a:alpha val="80000"/>
              </a:schemeClr>
            </a:solidFill>
          </p:spPr>
        </p:sp>
        <p:sp>
          <p:nvSpPr>
            <p:cNvPr id="22" name="AutoShape 22"/>
            <p:cNvSpPr/>
            <p:nvPr/>
          </p:nvSpPr>
          <p:spPr>
            <a:xfrm>
              <a:off x="689125" y="339460"/>
              <a:ext cx="74704" cy="74704"/>
            </a:xfrm>
            <a:prstGeom prst="ellipse">
              <a:avLst/>
            </a:prstGeom>
            <a:solidFill>
              <a:schemeClr val="accent1">
                <a:alpha val="60000"/>
              </a:schemeClr>
            </a:solidFill>
          </p:spPr>
        </p:sp>
        <p:sp>
          <p:nvSpPr>
            <p:cNvPr id="23" name="AutoShape 23"/>
            <p:cNvSpPr/>
            <p:nvPr/>
          </p:nvSpPr>
          <p:spPr>
            <a:xfrm>
              <a:off x="799768" y="348430"/>
              <a:ext cx="69238" cy="69238"/>
            </a:xfrm>
            <a:prstGeom prst="ellipse">
              <a:avLst/>
            </a:prstGeom>
            <a:solidFill>
              <a:schemeClr val="accent1">
                <a:alpha val="40000"/>
              </a:schemeClr>
            </a:solidFill>
          </p:spPr>
        </p:sp>
        <p:sp>
          <p:nvSpPr>
            <p:cNvPr id="24" name="AutoShape 24"/>
            <p:cNvSpPr/>
            <p:nvPr/>
          </p:nvSpPr>
          <p:spPr>
            <a:xfrm>
              <a:off x="904945" y="344297"/>
              <a:ext cx="65594" cy="65594"/>
            </a:xfrm>
            <a:prstGeom prst="ellipse">
              <a:avLst/>
            </a:prstGeom>
            <a:solidFill>
              <a:schemeClr val="accent1">
                <a:alpha val="20000"/>
              </a:schemeClr>
            </a:solidFill>
          </p:spPr>
        </p:sp>
        <p:sp>
          <p:nvSpPr>
            <p:cNvPr id="25" name="AutoShape 25"/>
            <p:cNvSpPr/>
            <p:nvPr/>
          </p:nvSpPr>
          <p:spPr>
            <a:xfrm>
              <a:off x="454963" y="448942"/>
              <a:ext cx="84147" cy="84147"/>
            </a:xfrm>
            <a:prstGeom prst="ellipse">
              <a:avLst/>
            </a:prstGeom>
            <a:solidFill>
              <a:schemeClr val="accent1">
                <a:alpha val="100000"/>
              </a:schemeClr>
            </a:solidFill>
          </p:spPr>
        </p:sp>
        <p:sp>
          <p:nvSpPr>
            <p:cNvPr id="26" name="AutoShape 26"/>
            <p:cNvSpPr/>
            <p:nvPr/>
          </p:nvSpPr>
          <p:spPr>
            <a:xfrm>
              <a:off x="575049" y="455517"/>
              <a:ext cx="78137" cy="78137"/>
            </a:xfrm>
            <a:prstGeom prst="ellipse">
              <a:avLst/>
            </a:prstGeom>
            <a:solidFill>
              <a:schemeClr val="accent1">
                <a:alpha val="80000"/>
              </a:schemeClr>
            </a:solidFill>
          </p:spPr>
        </p:sp>
        <p:sp>
          <p:nvSpPr>
            <p:cNvPr id="27" name="AutoShape 27"/>
            <p:cNvSpPr/>
            <p:nvPr/>
          </p:nvSpPr>
          <p:spPr>
            <a:xfrm>
              <a:off x="689125" y="457233"/>
              <a:ext cx="74704" cy="74704"/>
            </a:xfrm>
            <a:prstGeom prst="ellipse">
              <a:avLst/>
            </a:prstGeom>
            <a:solidFill>
              <a:schemeClr val="accent1">
                <a:alpha val="60000"/>
              </a:schemeClr>
            </a:solidFill>
          </p:spPr>
        </p:sp>
        <p:sp>
          <p:nvSpPr>
            <p:cNvPr id="28" name="AutoShape 28"/>
            <p:cNvSpPr/>
            <p:nvPr/>
          </p:nvSpPr>
          <p:spPr>
            <a:xfrm>
              <a:off x="799768" y="466203"/>
              <a:ext cx="69238" cy="69238"/>
            </a:xfrm>
            <a:prstGeom prst="ellipse">
              <a:avLst/>
            </a:prstGeom>
            <a:solidFill>
              <a:schemeClr val="accent1">
                <a:alpha val="40000"/>
              </a:schemeClr>
            </a:solidFill>
          </p:spPr>
        </p:sp>
        <p:sp>
          <p:nvSpPr>
            <p:cNvPr id="29" name="AutoShape 29"/>
            <p:cNvSpPr/>
            <p:nvPr/>
          </p:nvSpPr>
          <p:spPr>
            <a:xfrm>
              <a:off x="904945" y="462070"/>
              <a:ext cx="65594" cy="65594"/>
            </a:xfrm>
            <a:prstGeom prst="ellipse">
              <a:avLst/>
            </a:prstGeom>
            <a:solidFill>
              <a:schemeClr val="accent1">
                <a:alpha val="20000"/>
              </a:schemeClr>
            </a:solidFill>
          </p:spPr>
        </p:sp>
        <p:sp>
          <p:nvSpPr>
            <p:cNvPr id="30" name="AutoShape 30"/>
            <p:cNvSpPr/>
            <p:nvPr/>
          </p:nvSpPr>
          <p:spPr>
            <a:xfrm>
              <a:off x="454963" y="566715"/>
              <a:ext cx="84147" cy="84147"/>
            </a:xfrm>
            <a:prstGeom prst="ellipse">
              <a:avLst/>
            </a:prstGeom>
            <a:solidFill>
              <a:schemeClr val="accent1">
                <a:alpha val="100000"/>
              </a:schemeClr>
            </a:solidFill>
          </p:spPr>
        </p:sp>
        <p:sp>
          <p:nvSpPr>
            <p:cNvPr id="31" name="AutoShape 31"/>
            <p:cNvSpPr/>
            <p:nvPr/>
          </p:nvSpPr>
          <p:spPr>
            <a:xfrm>
              <a:off x="575049" y="573291"/>
              <a:ext cx="78137" cy="78137"/>
            </a:xfrm>
            <a:prstGeom prst="ellipse">
              <a:avLst/>
            </a:prstGeom>
            <a:solidFill>
              <a:schemeClr val="accent1">
                <a:alpha val="80000"/>
              </a:schemeClr>
            </a:solidFill>
          </p:spPr>
        </p:sp>
        <p:sp>
          <p:nvSpPr>
            <p:cNvPr id="32" name="AutoShape 32"/>
            <p:cNvSpPr/>
            <p:nvPr/>
          </p:nvSpPr>
          <p:spPr>
            <a:xfrm>
              <a:off x="689125" y="575007"/>
              <a:ext cx="74704" cy="74704"/>
            </a:xfrm>
            <a:prstGeom prst="ellipse">
              <a:avLst/>
            </a:prstGeom>
            <a:solidFill>
              <a:schemeClr val="accent1">
                <a:alpha val="60000"/>
              </a:schemeClr>
            </a:solidFill>
          </p:spPr>
        </p:sp>
        <p:sp>
          <p:nvSpPr>
            <p:cNvPr id="33" name="AutoShape 33"/>
            <p:cNvSpPr/>
            <p:nvPr/>
          </p:nvSpPr>
          <p:spPr>
            <a:xfrm>
              <a:off x="799768" y="583977"/>
              <a:ext cx="69238" cy="69238"/>
            </a:xfrm>
            <a:prstGeom prst="ellipse">
              <a:avLst/>
            </a:prstGeom>
            <a:solidFill>
              <a:schemeClr val="accent1">
                <a:alpha val="40000"/>
              </a:schemeClr>
            </a:solidFill>
          </p:spPr>
        </p:sp>
        <p:sp>
          <p:nvSpPr>
            <p:cNvPr id="34" name="AutoShape 34"/>
            <p:cNvSpPr/>
            <p:nvPr/>
          </p:nvSpPr>
          <p:spPr>
            <a:xfrm>
              <a:off x="904945" y="579844"/>
              <a:ext cx="65594" cy="65594"/>
            </a:xfrm>
            <a:prstGeom prst="ellipse">
              <a:avLst/>
            </a:prstGeom>
            <a:solidFill>
              <a:schemeClr val="accent1">
                <a:alpha val="20000"/>
              </a:schemeClr>
            </a:solidFill>
          </p:spPr>
        </p:sp>
        <p:sp>
          <p:nvSpPr>
            <p:cNvPr id="35" name="AutoShape 35"/>
            <p:cNvSpPr/>
            <p:nvPr/>
          </p:nvSpPr>
          <p:spPr>
            <a:xfrm>
              <a:off x="454963" y="684489"/>
              <a:ext cx="84147" cy="84147"/>
            </a:xfrm>
            <a:prstGeom prst="ellipse">
              <a:avLst/>
            </a:prstGeom>
            <a:solidFill>
              <a:schemeClr val="accent1">
                <a:alpha val="100000"/>
              </a:schemeClr>
            </a:solidFill>
          </p:spPr>
        </p:sp>
        <p:sp>
          <p:nvSpPr>
            <p:cNvPr id="36" name="AutoShape 36"/>
            <p:cNvSpPr/>
            <p:nvPr/>
          </p:nvSpPr>
          <p:spPr>
            <a:xfrm>
              <a:off x="575049" y="691064"/>
              <a:ext cx="78137" cy="78137"/>
            </a:xfrm>
            <a:prstGeom prst="ellipse">
              <a:avLst/>
            </a:prstGeom>
            <a:solidFill>
              <a:schemeClr val="accent1">
                <a:alpha val="80000"/>
              </a:schemeClr>
            </a:solidFill>
          </p:spPr>
        </p:sp>
        <p:sp>
          <p:nvSpPr>
            <p:cNvPr id="37" name="AutoShape 37"/>
            <p:cNvSpPr/>
            <p:nvPr/>
          </p:nvSpPr>
          <p:spPr>
            <a:xfrm>
              <a:off x="689125" y="692781"/>
              <a:ext cx="74704" cy="74704"/>
            </a:xfrm>
            <a:prstGeom prst="ellipse">
              <a:avLst/>
            </a:prstGeom>
            <a:solidFill>
              <a:schemeClr val="accent1">
                <a:alpha val="60000"/>
              </a:schemeClr>
            </a:solidFill>
          </p:spPr>
        </p:sp>
        <p:sp>
          <p:nvSpPr>
            <p:cNvPr id="38" name="AutoShape 38"/>
            <p:cNvSpPr/>
            <p:nvPr/>
          </p:nvSpPr>
          <p:spPr>
            <a:xfrm>
              <a:off x="799768" y="701751"/>
              <a:ext cx="69238" cy="69238"/>
            </a:xfrm>
            <a:prstGeom prst="ellipse">
              <a:avLst/>
            </a:prstGeom>
            <a:solidFill>
              <a:schemeClr val="accent1">
                <a:alpha val="40000"/>
              </a:schemeClr>
            </a:solidFill>
          </p:spPr>
        </p:sp>
        <p:sp>
          <p:nvSpPr>
            <p:cNvPr id="39" name="AutoShape 39"/>
            <p:cNvSpPr/>
            <p:nvPr/>
          </p:nvSpPr>
          <p:spPr>
            <a:xfrm>
              <a:off x="904945" y="697618"/>
              <a:ext cx="65594" cy="65594"/>
            </a:xfrm>
            <a:prstGeom prst="ellipse">
              <a:avLst/>
            </a:prstGeom>
            <a:solidFill>
              <a:schemeClr val="accent1">
                <a:alpha val="20000"/>
              </a:schemeClr>
            </a:solidFill>
          </p:spPr>
        </p:sp>
        <p:sp>
          <p:nvSpPr>
            <p:cNvPr id="40" name="TextBox 40"/>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主要模块详细设计</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 name="AutoShape 17"/>
          <p:cNvSpPr/>
          <p:nvPr/>
        </p:nvSpPr>
        <p:spPr>
          <a:xfrm>
            <a:off x="1241512" y="904467"/>
            <a:ext cx="441594" cy="441594"/>
          </a:xfrm>
          <a:prstGeom prst="rect">
            <a:avLst/>
          </a:prstGeom>
          <a:solidFill>
            <a:schemeClr val="accent1">
              <a:lumMod val="50000"/>
              <a:alpha val="100000"/>
            </a:schemeClr>
          </a:solidFill>
        </p:spPr>
        <p:txBody>
          <a:bodyPr/>
          <a:lstStyle/>
          <a:p>
            <a:endParaRPr lang="zh-CN" altLang="en-US"/>
          </a:p>
        </p:txBody>
      </p:sp>
      <p:sp>
        <p:nvSpPr>
          <p:cNvPr id="5" name="TextBox 18"/>
          <p:cNvSpPr txBox="1"/>
          <p:nvPr/>
        </p:nvSpPr>
        <p:spPr>
          <a:xfrm>
            <a:off x="1241512" y="1007627"/>
            <a:ext cx="438150" cy="261610"/>
          </a:xfrm>
          <a:prstGeom prst="rect">
            <a:avLst/>
          </a:prstGeom>
        </p:spPr>
        <p:txBody>
          <a:bodyPr vert="horz" wrap="square" lIns="85725" tIns="38100" rIns="85725" bIns="38100" rtlCol="0" anchor="ctr" anchorCtr="1">
            <a:spAutoFit/>
          </a:bodyPr>
          <a:lstStyle/>
          <a:p>
            <a:pPr algn="ctr">
              <a:lnSpc>
                <a:spcPct val="80000"/>
              </a:lnSpc>
            </a:pPr>
            <a:r>
              <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rPr>
              <a:t>02</a:t>
            </a:r>
            <a:endParaRPr lang="en-US" sz="1500" dirty="0">
              <a:solidFill>
                <a:srgbClr val="FFFFFF">
                  <a:alpha val="100000"/>
                </a:srgbClr>
              </a:solidFill>
              <a:latin typeface="微软雅黑" panose="020B0503020204020204" charset="-122"/>
              <a:ea typeface="微软雅黑" panose="020B0503020204020204" charset="-122"/>
              <a:cs typeface="微软雅黑" panose="020B0503020204020204" charset="-122"/>
            </a:endParaRPr>
          </a:p>
        </p:txBody>
      </p:sp>
      <p:sp>
        <p:nvSpPr>
          <p:cNvPr id="10" name="TextBox 14"/>
          <p:cNvSpPr txBox="1"/>
          <p:nvPr/>
        </p:nvSpPr>
        <p:spPr>
          <a:xfrm>
            <a:off x="1740175" y="932847"/>
            <a:ext cx="2222225" cy="386260"/>
          </a:xfrm>
          <a:prstGeom prst="rect">
            <a:avLst/>
          </a:prstGeom>
        </p:spPr>
        <p:txBody>
          <a:bodyPr vert="horz" wrap="square" lIns="95250" tIns="95250" rIns="47625" bIns="95250" rtlCol="0" anchor="t" anchorCtr="0">
            <a:spAutoFit/>
          </a:bodyPr>
          <a:lstStyle/>
          <a:p>
            <a:pPr>
              <a:lnSpc>
                <a:spcPct val="80000"/>
              </a:lnSpc>
              <a:spcBef>
                <a:spcPts val="375"/>
              </a:spcBef>
            </a:pPr>
            <a:r>
              <a:rPr lang="zh-CN" alt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软件设计思路及实现</a:t>
            </a:r>
            <a:endParaRPr lang="en-US" sz="1575"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pic>
        <p:nvPicPr>
          <p:cNvPr id="13" name="图片 12"/>
          <p:cNvPicPr>
            <a:picLocks noChangeAspect="1"/>
          </p:cNvPicPr>
          <p:nvPr/>
        </p:nvPicPr>
        <p:blipFill>
          <a:blip r:embed="rId2"/>
          <a:stretch>
            <a:fillRect/>
          </a:stretch>
        </p:blipFill>
        <p:spPr>
          <a:xfrm>
            <a:off x="7936802" y="2207586"/>
            <a:ext cx="1602505" cy="4191563"/>
          </a:xfrm>
          <a:prstGeom prst="rect">
            <a:avLst/>
          </a:prstGeom>
        </p:spPr>
      </p:pic>
      <p:pic>
        <p:nvPicPr>
          <p:cNvPr id="18" name="图片 17"/>
          <p:cNvPicPr>
            <a:picLocks noChangeAspect="1"/>
          </p:cNvPicPr>
          <p:nvPr/>
        </p:nvPicPr>
        <p:blipFill>
          <a:blip r:embed="rId3"/>
          <a:stretch>
            <a:fillRect/>
          </a:stretch>
        </p:blipFill>
        <p:spPr>
          <a:xfrm>
            <a:off x="3773851" y="1007626"/>
            <a:ext cx="4162951" cy="2465309"/>
          </a:xfrm>
          <a:prstGeom prst="rect">
            <a:avLst/>
          </a:prstGeom>
        </p:spPr>
      </p:pic>
      <p:pic>
        <p:nvPicPr>
          <p:cNvPr id="3" name="图片 2"/>
          <p:cNvPicPr>
            <a:picLocks noChangeAspect="1"/>
          </p:cNvPicPr>
          <p:nvPr/>
        </p:nvPicPr>
        <p:blipFill>
          <a:blip r:embed="rId4"/>
          <a:stretch>
            <a:fillRect/>
          </a:stretch>
        </p:blipFill>
        <p:spPr>
          <a:xfrm>
            <a:off x="1241512" y="2207587"/>
            <a:ext cx="2583547" cy="4191563"/>
          </a:xfrm>
          <a:prstGeom prst="rect">
            <a:avLst/>
          </a:prstGeom>
        </p:spPr>
      </p:pic>
      <p:pic>
        <p:nvPicPr>
          <p:cNvPr id="12" name="图片 11"/>
          <p:cNvPicPr>
            <a:picLocks noChangeAspect="1"/>
          </p:cNvPicPr>
          <p:nvPr/>
        </p:nvPicPr>
        <p:blipFill>
          <a:blip r:embed="rId5"/>
          <a:stretch>
            <a:fillRect/>
          </a:stretch>
        </p:blipFill>
        <p:spPr>
          <a:xfrm>
            <a:off x="3822944" y="3466146"/>
            <a:ext cx="2730256" cy="2939791"/>
          </a:xfrm>
          <a:prstGeom prst="rect">
            <a:avLst/>
          </a:prstGeom>
        </p:spPr>
      </p:pic>
      <p:pic>
        <p:nvPicPr>
          <p:cNvPr id="15" name="图片 14"/>
          <p:cNvPicPr>
            <a:picLocks noChangeAspect="1"/>
          </p:cNvPicPr>
          <p:nvPr/>
        </p:nvPicPr>
        <p:blipFill>
          <a:blip r:embed="rId6"/>
          <a:stretch>
            <a:fillRect/>
          </a:stretch>
        </p:blipFill>
        <p:spPr>
          <a:xfrm>
            <a:off x="6553200" y="3460995"/>
            <a:ext cx="1383602" cy="2950095"/>
          </a:xfrm>
          <a:prstGeom prst="rect">
            <a:avLst/>
          </a:prstGeom>
        </p:spPr>
      </p:pic>
      <p:pic>
        <p:nvPicPr>
          <p:cNvPr id="42" name="图片 41"/>
          <p:cNvPicPr>
            <a:picLocks noChangeAspect="1"/>
          </p:cNvPicPr>
          <p:nvPr/>
        </p:nvPicPr>
        <p:blipFill>
          <a:blip r:embed="rId7"/>
          <a:stretch>
            <a:fillRect/>
          </a:stretch>
        </p:blipFill>
        <p:spPr>
          <a:xfrm>
            <a:off x="7933582" y="1099833"/>
            <a:ext cx="1602505" cy="826316"/>
          </a:xfrm>
          <a:prstGeom prst="rect">
            <a:avLst/>
          </a:prstGeom>
        </p:spPr>
      </p:pic>
      <p:pic>
        <p:nvPicPr>
          <p:cNvPr id="44" name="图片 43"/>
          <p:cNvPicPr>
            <a:picLocks noChangeAspect="1"/>
          </p:cNvPicPr>
          <p:nvPr/>
        </p:nvPicPr>
        <p:blipFill>
          <a:blip r:embed="rId8"/>
          <a:stretch>
            <a:fillRect/>
          </a:stretch>
        </p:blipFill>
        <p:spPr>
          <a:xfrm>
            <a:off x="7933582" y="1768180"/>
            <a:ext cx="1207199" cy="37724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6" name="AutoShape 6"/>
          <p:cNvSpPr/>
          <p:nvPr/>
        </p:nvSpPr>
        <p:spPr>
          <a:xfrm>
            <a:off x="951865" y="2689225"/>
            <a:ext cx="3362325" cy="658495"/>
          </a:xfrm>
          <a:prstGeom prst="rect">
            <a:avLst/>
          </a:prstGeom>
        </p:spPr>
        <p:txBody>
          <a:bodyPr vert="horz" wrap="square" lIns="85725" tIns="85725" rIns="47625" bIns="85725" rtlCol="0" anchor="t" anchorCtr="0">
            <a:noAutofit/>
          </a:bodyPr>
          <a:lstStyle/>
          <a:p>
            <a:pPr algn="l">
              <a:lnSpc>
                <a:spcPct val="150000"/>
              </a:lnSpc>
              <a:spcBef>
                <a:spcPts val="375"/>
              </a:spcBef>
              <a:defRPr/>
            </a:pPr>
            <a:endParaRPr lang="en-US" sz="1100"/>
          </a:p>
        </p:txBody>
      </p:sp>
      <p:sp>
        <p:nvSpPr>
          <p:cNvPr id="7" name="AutoShape 7"/>
          <p:cNvSpPr/>
          <p:nvPr/>
        </p:nvSpPr>
        <p:spPr>
          <a:xfrm>
            <a:off x="2036609" y="7652409"/>
            <a:ext cx="2845266" cy="968375"/>
          </a:xfrm>
          <a:prstGeom prst="rect">
            <a:avLst/>
          </a:prstGeom>
        </p:spPr>
        <p:txBody>
          <a:bodyPr vert="horz" wrap="square" lIns="85725" tIns="85725" rIns="47625" bIns="85725" rtlCol="0" anchor="t" anchorCtr="0">
            <a:noAutofit/>
          </a:bodyPr>
          <a:lstStyle/>
          <a:p>
            <a:pPr algn="l">
              <a:lnSpc>
                <a:spcPct val="150000"/>
              </a:lnSpc>
              <a:spcBef>
                <a:spcPts val="375"/>
              </a:spcBef>
              <a:defRPr/>
            </a:pPr>
            <a:endParaRPr lang="en-US" sz="1100" dirty="0"/>
          </a:p>
        </p:txBody>
      </p:sp>
      <p:grpSp>
        <p:nvGrpSpPr>
          <p:cNvPr id="19" name="Group 19"/>
          <p:cNvGrpSpPr/>
          <p:nvPr/>
        </p:nvGrpSpPr>
        <p:grpSpPr>
          <a:xfrm>
            <a:off x="454963" y="93878"/>
            <a:ext cx="8155637" cy="826316"/>
            <a:chOff x="454963" y="93878"/>
            <a:chExt cx="10641129" cy="826316"/>
          </a:xfrm>
        </p:grpSpPr>
        <p:sp>
          <p:nvSpPr>
            <p:cNvPr id="20" name="AutoShape 20"/>
            <p:cNvSpPr/>
            <p:nvPr/>
          </p:nvSpPr>
          <p:spPr>
            <a:xfrm>
              <a:off x="454963" y="331168"/>
              <a:ext cx="84147" cy="84147"/>
            </a:xfrm>
            <a:prstGeom prst="ellipse">
              <a:avLst/>
            </a:prstGeom>
            <a:solidFill>
              <a:schemeClr val="accent1">
                <a:alpha val="100000"/>
              </a:schemeClr>
            </a:solidFill>
          </p:spPr>
        </p:sp>
        <p:sp>
          <p:nvSpPr>
            <p:cNvPr id="21" name="AutoShape 21"/>
            <p:cNvSpPr/>
            <p:nvPr/>
          </p:nvSpPr>
          <p:spPr>
            <a:xfrm>
              <a:off x="575049" y="337743"/>
              <a:ext cx="78137" cy="78137"/>
            </a:xfrm>
            <a:prstGeom prst="ellipse">
              <a:avLst/>
            </a:prstGeom>
            <a:solidFill>
              <a:schemeClr val="accent1">
                <a:alpha val="80000"/>
              </a:schemeClr>
            </a:solidFill>
          </p:spPr>
        </p:sp>
        <p:sp>
          <p:nvSpPr>
            <p:cNvPr id="22" name="AutoShape 22"/>
            <p:cNvSpPr/>
            <p:nvPr/>
          </p:nvSpPr>
          <p:spPr>
            <a:xfrm>
              <a:off x="689125" y="339460"/>
              <a:ext cx="74704" cy="74704"/>
            </a:xfrm>
            <a:prstGeom prst="ellipse">
              <a:avLst/>
            </a:prstGeom>
            <a:solidFill>
              <a:schemeClr val="accent1">
                <a:alpha val="60000"/>
              </a:schemeClr>
            </a:solidFill>
          </p:spPr>
        </p:sp>
        <p:sp>
          <p:nvSpPr>
            <p:cNvPr id="23" name="AutoShape 23"/>
            <p:cNvSpPr/>
            <p:nvPr/>
          </p:nvSpPr>
          <p:spPr>
            <a:xfrm>
              <a:off x="799768" y="348430"/>
              <a:ext cx="69238" cy="69238"/>
            </a:xfrm>
            <a:prstGeom prst="ellipse">
              <a:avLst/>
            </a:prstGeom>
            <a:solidFill>
              <a:schemeClr val="accent1">
                <a:alpha val="40000"/>
              </a:schemeClr>
            </a:solidFill>
          </p:spPr>
        </p:sp>
        <p:sp>
          <p:nvSpPr>
            <p:cNvPr id="24" name="AutoShape 24"/>
            <p:cNvSpPr/>
            <p:nvPr/>
          </p:nvSpPr>
          <p:spPr>
            <a:xfrm>
              <a:off x="904945" y="344297"/>
              <a:ext cx="65594" cy="65594"/>
            </a:xfrm>
            <a:prstGeom prst="ellipse">
              <a:avLst/>
            </a:prstGeom>
            <a:solidFill>
              <a:schemeClr val="accent1">
                <a:alpha val="20000"/>
              </a:schemeClr>
            </a:solidFill>
          </p:spPr>
        </p:sp>
        <p:sp>
          <p:nvSpPr>
            <p:cNvPr id="25" name="AutoShape 25"/>
            <p:cNvSpPr/>
            <p:nvPr/>
          </p:nvSpPr>
          <p:spPr>
            <a:xfrm>
              <a:off x="454963" y="448942"/>
              <a:ext cx="84147" cy="84147"/>
            </a:xfrm>
            <a:prstGeom prst="ellipse">
              <a:avLst/>
            </a:prstGeom>
            <a:solidFill>
              <a:schemeClr val="accent1">
                <a:alpha val="100000"/>
              </a:schemeClr>
            </a:solidFill>
          </p:spPr>
        </p:sp>
        <p:sp>
          <p:nvSpPr>
            <p:cNvPr id="26" name="AutoShape 26"/>
            <p:cNvSpPr/>
            <p:nvPr/>
          </p:nvSpPr>
          <p:spPr>
            <a:xfrm>
              <a:off x="575049" y="455517"/>
              <a:ext cx="78137" cy="78137"/>
            </a:xfrm>
            <a:prstGeom prst="ellipse">
              <a:avLst/>
            </a:prstGeom>
            <a:solidFill>
              <a:schemeClr val="accent1">
                <a:alpha val="80000"/>
              </a:schemeClr>
            </a:solidFill>
          </p:spPr>
          <p:txBody>
            <a:bodyPr/>
            <a:lstStyle/>
            <a:p>
              <a:endParaRPr lang="zh-CN" altLang="en-US"/>
            </a:p>
          </p:txBody>
        </p:sp>
        <p:sp>
          <p:nvSpPr>
            <p:cNvPr id="27" name="AutoShape 27"/>
            <p:cNvSpPr/>
            <p:nvPr/>
          </p:nvSpPr>
          <p:spPr>
            <a:xfrm>
              <a:off x="689125" y="457233"/>
              <a:ext cx="74704" cy="74704"/>
            </a:xfrm>
            <a:prstGeom prst="ellipse">
              <a:avLst/>
            </a:prstGeom>
            <a:solidFill>
              <a:schemeClr val="accent1">
                <a:alpha val="60000"/>
              </a:schemeClr>
            </a:solidFill>
          </p:spPr>
        </p:sp>
        <p:sp>
          <p:nvSpPr>
            <p:cNvPr id="28" name="AutoShape 28"/>
            <p:cNvSpPr/>
            <p:nvPr/>
          </p:nvSpPr>
          <p:spPr>
            <a:xfrm>
              <a:off x="799768" y="466203"/>
              <a:ext cx="69238" cy="69238"/>
            </a:xfrm>
            <a:prstGeom prst="ellipse">
              <a:avLst/>
            </a:prstGeom>
            <a:solidFill>
              <a:schemeClr val="accent1">
                <a:alpha val="40000"/>
              </a:schemeClr>
            </a:solidFill>
          </p:spPr>
        </p:sp>
        <p:sp>
          <p:nvSpPr>
            <p:cNvPr id="29" name="AutoShape 29"/>
            <p:cNvSpPr/>
            <p:nvPr/>
          </p:nvSpPr>
          <p:spPr>
            <a:xfrm>
              <a:off x="904945" y="462070"/>
              <a:ext cx="65594" cy="65594"/>
            </a:xfrm>
            <a:prstGeom prst="ellipse">
              <a:avLst/>
            </a:prstGeom>
            <a:solidFill>
              <a:schemeClr val="accent1">
                <a:alpha val="20000"/>
              </a:schemeClr>
            </a:solidFill>
          </p:spPr>
        </p:sp>
        <p:sp>
          <p:nvSpPr>
            <p:cNvPr id="30" name="AutoShape 30"/>
            <p:cNvSpPr/>
            <p:nvPr/>
          </p:nvSpPr>
          <p:spPr>
            <a:xfrm>
              <a:off x="454963" y="566715"/>
              <a:ext cx="84147" cy="84147"/>
            </a:xfrm>
            <a:prstGeom prst="ellipse">
              <a:avLst/>
            </a:prstGeom>
            <a:solidFill>
              <a:schemeClr val="accent1">
                <a:alpha val="100000"/>
              </a:schemeClr>
            </a:solidFill>
          </p:spPr>
        </p:sp>
        <p:sp>
          <p:nvSpPr>
            <p:cNvPr id="31" name="AutoShape 31"/>
            <p:cNvSpPr/>
            <p:nvPr/>
          </p:nvSpPr>
          <p:spPr>
            <a:xfrm>
              <a:off x="575049" y="573291"/>
              <a:ext cx="78137" cy="78137"/>
            </a:xfrm>
            <a:prstGeom prst="ellipse">
              <a:avLst/>
            </a:prstGeom>
            <a:solidFill>
              <a:schemeClr val="accent1">
                <a:alpha val="80000"/>
              </a:schemeClr>
            </a:solidFill>
          </p:spPr>
        </p:sp>
        <p:sp>
          <p:nvSpPr>
            <p:cNvPr id="32" name="AutoShape 32"/>
            <p:cNvSpPr/>
            <p:nvPr/>
          </p:nvSpPr>
          <p:spPr>
            <a:xfrm>
              <a:off x="689125" y="575007"/>
              <a:ext cx="74704" cy="74704"/>
            </a:xfrm>
            <a:prstGeom prst="ellipse">
              <a:avLst/>
            </a:prstGeom>
            <a:solidFill>
              <a:schemeClr val="accent1">
                <a:alpha val="60000"/>
              </a:schemeClr>
            </a:solidFill>
          </p:spPr>
        </p:sp>
        <p:sp>
          <p:nvSpPr>
            <p:cNvPr id="33" name="AutoShape 33"/>
            <p:cNvSpPr/>
            <p:nvPr/>
          </p:nvSpPr>
          <p:spPr>
            <a:xfrm>
              <a:off x="799768" y="583977"/>
              <a:ext cx="69238" cy="69238"/>
            </a:xfrm>
            <a:prstGeom prst="ellipse">
              <a:avLst/>
            </a:prstGeom>
            <a:solidFill>
              <a:schemeClr val="accent1">
                <a:alpha val="40000"/>
              </a:schemeClr>
            </a:solidFill>
          </p:spPr>
        </p:sp>
        <p:sp>
          <p:nvSpPr>
            <p:cNvPr id="34" name="AutoShape 34"/>
            <p:cNvSpPr/>
            <p:nvPr/>
          </p:nvSpPr>
          <p:spPr>
            <a:xfrm>
              <a:off x="904945" y="579844"/>
              <a:ext cx="65594" cy="65594"/>
            </a:xfrm>
            <a:prstGeom prst="ellipse">
              <a:avLst/>
            </a:prstGeom>
            <a:solidFill>
              <a:schemeClr val="accent1">
                <a:alpha val="20000"/>
              </a:schemeClr>
            </a:solidFill>
          </p:spPr>
        </p:sp>
        <p:sp>
          <p:nvSpPr>
            <p:cNvPr id="35" name="AutoShape 35"/>
            <p:cNvSpPr/>
            <p:nvPr/>
          </p:nvSpPr>
          <p:spPr>
            <a:xfrm>
              <a:off x="454963" y="684489"/>
              <a:ext cx="84147" cy="84147"/>
            </a:xfrm>
            <a:prstGeom prst="ellipse">
              <a:avLst/>
            </a:prstGeom>
            <a:solidFill>
              <a:schemeClr val="accent1">
                <a:alpha val="100000"/>
              </a:schemeClr>
            </a:solidFill>
          </p:spPr>
        </p:sp>
        <p:sp>
          <p:nvSpPr>
            <p:cNvPr id="36" name="AutoShape 36"/>
            <p:cNvSpPr/>
            <p:nvPr/>
          </p:nvSpPr>
          <p:spPr>
            <a:xfrm>
              <a:off x="575049" y="691064"/>
              <a:ext cx="78137" cy="78137"/>
            </a:xfrm>
            <a:prstGeom prst="ellipse">
              <a:avLst/>
            </a:prstGeom>
            <a:solidFill>
              <a:schemeClr val="accent1">
                <a:alpha val="80000"/>
              </a:schemeClr>
            </a:solidFill>
          </p:spPr>
        </p:sp>
        <p:sp>
          <p:nvSpPr>
            <p:cNvPr id="37" name="AutoShape 37"/>
            <p:cNvSpPr/>
            <p:nvPr/>
          </p:nvSpPr>
          <p:spPr>
            <a:xfrm>
              <a:off x="689125" y="692781"/>
              <a:ext cx="74704" cy="74704"/>
            </a:xfrm>
            <a:prstGeom prst="ellipse">
              <a:avLst/>
            </a:prstGeom>
            <a:solidFill>
              <a:schemeClr val="accent1">
                <a:alpha val="60000"/>
              </a:schemeClr>
            </a:solidFill>
          </p:spPr>
        </p:sp>
        <p:sp>
          <p:nvSpPr>
            <p:cNvPr id="38" name="AutoShape 38"/>
            <p:cNvSpPr/>
            <p:nvPr/>
          </p:nvSpPr>
          <p:spPr>
            <a:xfrm>
              <a:off x="799768" y="701751"/>
              <a:ext cx="69238" cy="69238"/>
            </a:xfrm>
            <a:prstGeom prst="ellipse">
              <a:avLst/>
            </a:prstGeom>
            <a:solidFill>
              <a:schemeClr val="accent1">
                <a:alpha val="40000"/>
              </a:schemeClr>
            </a:solidFill>
          </p:spPr>
        </p:sp>
        <p:sp>
          <p:nvSpPr>
            <p:cNvPr id="39" name="AutoShape 39"/>
            <p:cNvSpPr/>
            <p:nvPr/>
          </p:nvSpPr>
          <p:spPr>
            <a:xfrm>
              <a:off x="904945" y="697618"/>
              <a:ext cx="65594" cy="65594"/>
            </a:xfrm>
            <a:prstGeom prst="ellipse">
              <a:avLst/>
            </a:prstGeom>
            <a:solidFill>
              <a:schemeClr val="accent1">
                <a:alpha val="20000"/>
              </a:schemeClr>
            </a:solidFill>
          </p:spPr>
        </p:sp>
        <p:sp>
          <p:nvSpPr>
            <p:cNvPr id="40" name="TextBox 40"/>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系统测试</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5" name="文本框 44"/>
          <p:cNvSpPr txBox="1"/>
          <p:nvPr/>
        </p:nvSpPr>
        <p:spPr>
          <a:xfrm>
            <a:off x="951865" y="917926"/>
            <a:ext cx="6389572" cy="969957"/>
          </a:xfrm>
          <a:prstGeom prst="rect">
            <a:avLst/>
          </a:prstGeom>
          <a:noFill/>
        </p:spPr>
        <p:txBody>
          <a:bodyPr wrap="square" rtlCol="0">
            <a:noAutofit/>
          </a:bodyPr>
          <a:lstStyle/>
          <a:p>
            <a:pPr indent="457200" algn="just" fontAlgn="auto">
              <a:lnSpc>
                <a:spcPct val="150000"/>
              </a:lnSpc>
              <a:spcBef>
                <a:spcPts val="375"/>
              </a:spcBef>
              <a:defRPr/>
            </a:pPr>
            <a:r>
              <a:rPr lang="zh-CN" altLang="en-US" sz="1500" dirty="0">
                <a:solidFill>
                  <a:schemeClr val="dk1">
                    <a:alpha val="100000"/>
                  </a:schemeClr>
                </a:solidFill>
                <a:latin typeface="微软雅黑" panose="020B0503020204020204" charset="-122"/>
                <a:ea typeface="微软雅黑" panose="020B0503020204020204" charset="-122"/>
              </a:rPr>
              <a:t>分别测试了整个系统的工作状态，包括传感器采集数据的准确性，通信的稳定性，视频监控功能，远程监测与设备控制和历史数据查看。</a:t>
            </a:r>
            <a:endParaRPr lang="en-US" sz="1500" dirty="0">
              <a:solidFill>
                <a:schemeClr val="dk1">
                  <a:alpha val="100000"/>
                </a:schemeClr>
              </a:solidFill>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829624" y="3554119"/>
            <a:ext cx="1167288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2" name="图片 1"/>
          <p:cNvPicPr>
            <a:picLocks noChangeAspect="1"/>
          </p:cNvPicPr>
          <p:nvPr/>
        </p:nvPicPr>
        <p:blipFill>
          <a:blip r:embed="rId2"/>
          <a:stretch>
            <a:fillRect/>
          </a:stretch>
        </p:blipFill>
        <p:spPr>
          <a:xfrm>
            <a:off x="691686" y="1828800"/>
            <a:ext cx="5523809" cy="2676190"/>
          </a:xfrm>
          <a:prstGeom prst="rect">
            <a:avLst/>
          </a:prstGeom>
        </p:spPr>
      </p:pic>
      <p:pic>
        <p:nvPicPr>
          <p:cNvPr id="3" name="图片 2"/>
          <p:cNvPicPr>
            <a:picLocks noChangeAspect="1"/>
          </p:cNvPicPr>
          <p:nvPr/>
        </p:nvPicPr>
        <p:blipFill>
          <a:blip r:embed="rId3"/>
          <a:stretch>
            <a:fillRect/>
          </a:stretch>
        </p:blipFill>
        <p:spPr>
          <a:xfrm>
            <a:off x="634431" y="5078079"/>
            <a:ext cx="5765292" cy="1691640"/>
          </a:xfrm>
          <a:prstGeom prst="rect">
            <a:avLst/>
          </a:prstGeom>
        </p:spPr>
      </p:pic>
      <p:pic>
        <p:nvPicPr>
          <p:cNvPr id="11" name="图片 10"/>
          <p:cNvPicPr>
            <a:picLocks noChangeAspect="1"/>
          </p:cNvPicPr>
          <p:nvPr/>
        </p:nvPicPr>
        <p:blipFill>
          <a:blip r:embed="rId4"/>
          <a:stretch>
            <a:fillRect/>
          </a:stretch>
        </p:blipFill>
        <p:spPr>
          <a:xfrm>
            <a:off x="6360946" y="1828800"/>
            <a:ext cx="5771388" cy="48006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6" name="AutoShape 6"/>
          <p:cNvSpPr/>
          <p:nvPr/>
        </p:nvSpPr>
        <p:spPr>
          <a:xfrm>
            <a:off x="951865" y="2689225"/>
            <a:ext cx="3362325" cy="658495"/>
          </a:xfrm>
          <a:prstGeom prst="rect">
            <a:avLst/>
          </a:prstGeom>
        </p:spPr>
        <p:txBody>
          <a:bodyPr vert="horz" wrap="square" lIns="85725" tIns="85725" rIns="47625" bIns="85725" rtlCol="0" anchor="t" anchorCtr="0">
            <a:noAutofit/>
          </a:bodyPr>
          <a:lstStyle/>
          <a:p>
            <a:pPr algn="l">
              <a:lnSpc>
                <a:spcPct val="150000"/>
              </a:lnSpc>
              <a:spcBef>
                <a:spcPts val="375"/>
              </a:spcBef>
              <a:defRPr/>
            </a:pPr>
            <a:endParaRPr lang="en-US" sz="1100"/>
          </a:p>
        </p:txBody>
      </p:sp>
      <p:sp>
        <p:nvSpPr>
          <p:cNvPr id="7" name="AutoShape 7"/>
          <p:cNvSpPr/>
          <p:nvPr/>
        </p:nvSpPr>
        <p:spPr>
          <a:xfrm>
            <a:off x="2036609" y="7652409"/>
            <a:ext cx="2845266" cy="968375"/>
          </a:xfrm>
          <a:prstGeom prst="rect">
            <a:avLst/>
          </a:prstGeom>
        </p:spPr>
        <p:txBody>
          <a:bodyPr vert="horz" wrap="square" lIns="85725" tIns="85725" rIns="47625" bIns="85725" rtlCol="0" anchor="t" anchorCtr="0">
            <a:noAutofit/>
          </a:bodyPr>
          <a:lstStyle/>
          <a:p>
            <a:pPr algn="l">
              <a:lnSpc>
                <a:spcPct val="150000"/>
              </a:lnSpc>
              <a:spcBef>
                <a:spcPts val="375"/>
              </a:spcBef>
              <a:defRPr/>
            </a:pPr>
            <a:endParaRPr lang="en-US" sz="1100" dirty="0"/>
          </a:p>
        </p:txBody>
      </p:sp>
      <p:grpSp>
        <p:nvGrpSpPr>
          <p:cNvPr id="19" name="Group 19"/>
          <p:cNvGrpSpPr/>
          <p:nvPr/>
        </p:nvGrpSpPr>
        <p:grpSpPr>
          <a:xfrm>
            <a:off x="454963" y="93878"/>
            <a:ext cx="8155637" cy="826316"/>
            <a:chOff x="454963" y="93878"/>
            <a:chExt cx="10641129" cy="826316"/>
          </a:xfrm>
        </p:grpSpPr>
        <p:sp>
          <p:nvSpPr>
            <p:cNvPr id="20" name="AutoShape 20"/>
            <p:cNvSpPr/>
            <p:nvPr/>
          </p:nvSpPr>
          <p:spPr>
            <a:xfrm>
              <a:off x="454963" y="331168"/>
              <a:ext cx="84147" cy="84147"/>
            </a:xfrm>
            <a:prstGeom prst="ellipse">
              <a:avLst/>
            </a:prstGeom>
            <a:solidFill>
              <a:schemeClr val="accent1">
                <a:alpha val="100000"/>
              </a:schemeClr>
            </a:solidFill>
          </p:spPr>
        </p:sp>
        <p:sp>
          <p:nvSpPr>
            <p:cNvPr id="21" name="AutoShape 21"/>
            <p:cNvSpPr/>
            <p:nvPr/>
          </p:nvSpPr>
          <p:spPr>
            <a:xfrm>
              <a:off x="575049" y="337743"/>
              <a:ext cx="78137" cy="78137"/>
            </a:xfrm>
            <a:prstGeom prst="ellipse">
              <a:avLst/>
            </a:prstGeom>
            <a:solidFill>
              <a:schemeClr val="accent1">
                <a:alpha val="80000"/>
              </a:schemeClr>
            </a:solidFill>
          </p:spPr>
        </p:sp>
        <p:sp>
          <p:nvSpPr>
            <p:cNvPr id="22" name="AutoShape 22"/>
            <p:cNvSpPr/>
            <p:nvPr/>
          </p:nvSpPr>
          <p:spPr>
            <a:xfrm>
              <a:off x="689125" y="339460"/>
              <a:ext cx="74704" cy="74704"/>
            </a:xfrm>
            <a:prstGeom prst="ellipse">
              <a:avLst/>
            </a:prstGeom>
            <a:solidFill>
              <a:schemeClr val="accent1">
                <a:alpha val="60000"/>
              </a:schemeClr>
            </a:solidFill>
          </p:spPr>
        </p:sp>
        <p:sp>
          <p:nvSpPr>
            <p:cNvPr id="23" name="AutoShape 23"/>
            <p:cNvSpPr/>
            <p:nvPr/>
          </p:nvSpPr>
          <p:spPr>
            <a:xfrm>
              <a:off x="799768" y="348430"/>
              <a:ext cx="69238" cy="69238"/>
            </a:xfrm>
            <a:prstGeom prst="ellipse">
              <a:avLst/>
            </a:prstGeom>
            <a:solidFill>
              <a:schemeClr val="accent1">
                <a:alpha val="40000"/>
              </a:schemeClr>
            </a:solidFill>
          </p:spPr>
        </p:sp>
        <p:sp>
          <p:nvSpPr>
            <p:cNvPr id="24" name="AutoShape 24"/>
            <p:cNvSpPr/>
            <p:nvPr/>
          </p:nvSpPr>
          <p:spPr>
            <a:xfrm>
              <a:off x="904945" y="344297"/>
              <a:ext cx="65594" cy="65594"/>
            </a:xfrm>
            <a:prstGeom prst="ellipse">
              <a:avLst/>
            </a:prstGeom>
            <a:solidFill>
              <a:schemeClr val="accent1">
                <a:alpha val="20000"/>
              </a:schemeClr>
            </a:solidFill>
          </p:spPr>
        </p:sp>
        <p:sp>
          <p:nvSpPr>
            <p:cNvPr id="25" name="AutoShape 25"/>
            <p:cNvSpPr/>
            <p:nvPr/>
          </p:nvSpPr>
          <p:spPr>
            <a:xfrm>
              <a:off x="454963" y="448942"/>
              <a:ext cx="84147" cy="84147"/>
            </a:xfrm>
            <a:prstGeom prst="ellipse">
              <a:avLst/>
            </a:prstGeom>
            <a:solidFill>
              <a:schemeClr val="accent1">
                <a:alpha val="100000"/>
              </a:schemeClr>
            </a:solidFill>
          </p:spPr>
        </p:sp>
        <p:sp>
          <p:nvSpPr>
            <p:cNvPr id="26" name="AutoShape 26"/>
            <p:cNvSpPr/>
            <p:nvPr/>
          </p:nvSpPr>
          <p:spPr>
            <a:xfrm>
              <a:off x="575049" y="455517"/>
              <a:ext cx="78137" cy="78137"/>
            </a:xfrm>
            <a:prstGeom prst="ellipse">
              <a:avLst/>
            </a:prstGeom>
            <a:solidFill>
              <a:schemeClr val="accent1">
                <a:alpha val="80000"/>
              </a:schemeClr>
            </a:solidFill>
          </p:spPr>
          <p:txBody>
            <a:bodyPr/>
            <a:lstStyle/>
            <a:p>
              <a:endParaRPr lang="zh-CN" altLang="en-US"/>
            </a:p>
          </p:txBody>
        </p:sp>
        <p:sp>
          <p:nvSpPr>
            <p:cNvPr id="27" name="AutoShape 27"/>
            <p:cNvSpPr/>
            <p:nvPr/>
          </p:nvSpPr>
          <p:spPr>
            <a:xfrm>
              <a:off x="689125" y="457233"/>
              <a:ext cx="74704" cy="74704"/>
            </a:xfrm>
            <a:prstGeom prst="ellipse">
              <a:avLst/>
            </a:prstGeom>
            <a:solidFill>
              <a:schemeClr val="accent1">
                <a:alpha val="60000"/>
              </a:schemeClr>
            </a:solidFill>
          </p:spPr>
        </p:sp>
        <p:sp>
          <p:nvSpPr>
            <p:cNvPr id="28" name="AutoShape 28"/>
            <p:cNvSpPr/>
            <p:nvPr/>
          </p:nvSpPr>
          <p:spPr>
            <a:xfrm>
              <a:off x="799768" y="466203"/>
              <a:ext cx="69238" cy="69238"/>
            </a:xfrm>
            <a:prstGeom prst="ellipse">
              <a:avLst/>
            </a:prstGeom>
            <a:solidFill>
              <a:schemeClr val="accent1">
                <a:alpha val="40000"/>
              </a:schemeClr>
            </a:solidFill>
          </p:spPr>
        </p:sp>
        <p:sp>
          <p:nvSpPr>
            <p:cNvPr id="29" name="AutoShape 29"/>
            <p:cNvSpPr/>
            <p:nvPr/>
          </p:nvSpPr>
          <p:spPr>
            <a:xfrm>
              <a:off x="904945" y="462070"/>
              <a:ext cx="65594" cy="65594"/>
            </a:xfrm>
            <a:prstGeom prst="ellipse">
              <a:avLst/>
            </a:prstGeom>
            <a:solidFill>
              <a:schemeClr val="accent1">
                <a:alpha val="20000"/>
              </a:schemeClr>
            </a:solidFill>
          </p:spPr>
        </p:sp>
        <p:sp>
          <p:nvSpPr>
            <p:cNvPr id="30" name="AutoShape 30"/>
            <p:cNvSpPr/>
            <p:nvPr/>
          </p:nvSpPr>
          <p:spPr>
            <a:xfrm>
              <a:off x="454963" y="566715"/>
              <a:ext cx="84147" cy="84147"/>
            </a:xfrm>
            <a:prstGeom prst="ellipse">
              <a:avLst/>
            </a:prstGeom>
            <a:solidFill>
              <a:schemeClr val="accent1">
                <a:alpha val="100000"/>
              </a:schemeClr>
            </a:solidFill>
          </p:spPr>
        </p:sp>
        <p:sp>
          <p:nvSpPr>
            <p:cNvPr id="31" name="AutoShape 31"/>
            <p:cNvSpPr/>
            <p:nvPr/>
          </p:nvSpPr>
          <p:spPr>
            <a:xfrm>
              <a:off x="575049" y="573291"/>
              <a:ext cx="78137" cy="78137"/>
            </a:xfrm>
            <a:prstGeom prst="ellipse">
              <a:avLst/>
            </a:prstGeom>
            <a:solidFill>
              <a:schemeClr val="accent1">
                <a:alpha val="80000"/>
              </a:schemeClr>
            </a:solidFill>
          </p:spPr>
        </p:sp>
        <p:sp>
          <p:nvSpPr>
            <p:cNvPr id="32" name="AutoShape 32"/>
            <p:cNvSpPr/>
            <p:nvPr/>
          </p:nvSpPr>
          <p:spPr>
            <a:xfrm>
              <a:off x="689125" y="575007"/>
              <a:ext cx="74704" cy="74704"/>
            </a:xfrm>
            <a:prstGeom prst="ellipse">
              <a:avLst/>
            </a:prstGeom>
            <a:solidFill>
              <a:schemeClr val="accent1">
                <a:alpha val="60000"/>
              </a:schemeClr>
            </a:solidFill>
          </p:spPr>
        </p:sp>
        <p:sp>
          <p:nvSpPr>
            <p:cNvPr id="33" name="AutoShape 33"/>
            <p:cNvSpPr/>
            <p:nvPr/>
          </p:nvSpPr>
          <p:spPr>
            <a:xfrm>
              <a:off x="799768" y="583977"/>
              <a:ext cx="69238" cy="69238"/>
            </a:xfrm>
            <a:prstGeom prst="ellipse">
              <a:avLst/>
            </a:prstGeom>
            <a:solidFill>
              <a:schemeClr val="accent1">
                <a:alpha val="40000"/>
              </a:schemeClr>
            </a:solidFill>
          </p:spPr>
        </p:sp>
        <p:sp>
          <p:nvSpPr>
            <p:cNvPr id="34" name="AutoShape 34"/>
            <p:cNvSpPr/>
            <p:nvPr/>
          </p:nvSpPr>
          <p:spPr>
            <a:xfrm>
              <a:off x="904945" y="579844"/>
              <a:ext cx="65594" cy="65594"/>
            </a:xfrm>
            <a:prstGeom prst="ellipse">
              <a:avLst/>
            </a:prstGeom>
            <a:solidFill>
              <a:schemeClr val="accent1">
                <a:alpha val="20000"/>
              </a:schemeClr>
            </a:solidFill>
          </p:spPr>
        </p:sp>
        <p:sp>
          <p:nvSpPr>
            <p:cNvPr id="35" name="AutoShape 35"/>
            <p:cNvSpPr/>
            <p:nvPr/>
          </p:nvSpPr>
          <p:spPr>
            <a:xfrm>
              <a:off x="454963" y="684489"/>
              <a:ext cx="84147" cy="84147"/>
            </a:xfrm>
            <a:prstGeom prst="ellipse">
              <a:avLst/>
            </a:prstGeom>
            <a:solidFill>
              <a:schemeClr val="accent1">
                <a:alpha val="100000"/>
              </a:schemeClr>
            </a:solidFill>
          </p:spPr>
        </p:sp>
        <p:sp>
          <p:nvSpPr>
            <p:cNvPr id="36" name="AutoShape 36"/>
            <p:cNvSpPr/>
            <p:nvPr/>
          </p:nvSpPr>
          <p:spPr>
            <a:xfrm>
              <a:off x="575049" y="691064"/>
              <a:ext cx="78137" cy="78137"/>
            </a:xfrm>
            <a:prstGeom prst="ellipse">
              <a:avLst/>
            </a:prstGeom>
            <a:solidFill>
              <a:schemeClr val="accent1">
                <a:alpha val="80000"/>
              </a:schemeClr>
            </a:solidFill>
          </p:spPr>
        </p:sp>
        <p:sp>
          <p:nvSpPr>
            <p:cNvPr id="37" name="AutoShape 37"/>
            <p:cNvSpPr/>
            <p:nvPr/>
          </p:nvSpPr>
          <p:spPr>
            <a:xfrm>
              <a:off x="689125" y="692781"/>
              <a:ext cx="74704" cy="74704"/>
            </a:xfrm>
            <a:prstGeom prst="ellipse">
              <a:avLst/>
            </a:prstGeom>
            <a:solidFill>
              <a:schemeClr val="accent1">
                <a:alpha val="60000"/>
              </a:schemeClr>
            </a:solidFill>
          </p:spPr>
        </p:sp>
        <p:sp>
          <p:nvSpPr>
            <p:cNvPr id="38" name="AutoShape 38"/>
            <p:cNvSpPr/>
            <p:nvPr/>
          </p:nvSpPr>
          <p:spPr>
            <a:xfrm>
              <a:off x="799768" y="701751"/>
              <a:ext cx="69238" cy="69238"/>
            </a:xfrm>
            <a:prstGeom prst="ellipse">
              <a:avLst/>
            </a:prstGeom>
            <a:solidFill>
              <a:schemeClr val="accent1">
                <a:alpha val="40000"/>
              </a:schemeClr>
            </a:solidFill>
          </p:spPr>
        </p:sp>
        <p:sp>
          <p:nvSpPr>
            <p:cNvPr id="39" name="AutoShape 39"/>
            <p:cNvSpPr/>
            <p:nvPr/>
          </p:nvSpPr>
          <p:spPr>
            <a:xfrm>
              <a:off x="904945" y="697618"/>
              <a:ext cx="65594" cy="65594"/>
            </a:xfrm>
            <a:prstGeom prst="ellipse">
              <a:avLst/>
            </a:prstGeom>
            <a:solidFill>
              <a:schemeClr val="accent1">
                <a:alpha val="20000"/>
              </a:schemeClr>
            </a:solidFill>
          </p:spPr>
        </p:sp>
        <p:sp>
          <p:nvSpPr>
            <p:cNvPr id="40" name="TextBox 40"/>
            <p:cNvSpPr txBox="1"/>
            <p:nvPr/>
          </p:nvSpPr>
          <p:spPr>
            <a:xfrm>
              <a:off x="1094842" y="93878"/>
              <a:ext cx="10001250" cy="826316"/>
            </a:xfrm>
            <a:prstGeom prst="rect">
              <a:avLst/>
            </a:prstGeom>
          </p:spPr>
          <p:txBody>
            <a:bodyPr vert="horz" wrap="square" lIns="123825" tIns="123825" rIns="57150" bIns="123825" rtlCol="0" anchor="t" anchorCtr="0">
              <a:spAutoFit/>
            </a:bodyPr>
            <a:lstStyle/>
            <a:p>
              <a:pPr>
                <a:lnSpc>
                  <a:spcPct val="140000"/>
                </a:lnSpc>
              </a:pPr>
              <a:r>
                <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rPr>
                <a:t>系统测试</a:t>
              </a:r>
              <a:endParaRPr lang="zh-CN" altLang="en-US" sz="3000" b="1" dirty="0">
                <a:solidFill>
                  <a:schemeClr val="accent1">
                    <a:alpha val="100000"/>
                  </a:schemeClr>
                </a:solidFill>
                <a:latin typeface="微软雅黑" panose="020B0503020204020204" charset="-122"/>
                <a:ea typeface="微软雅黑" panose="020B0503020204020204" charset="-122"/>
                <a:cs typeface="微软雅黑" panose="020B0503020204020204" charset="-122"/>
              </a:endParaRPr>
            </a:p>
          </p:txBody>
        </p:sp>
      </p:grpSp>
      <p:sp>
        <p:nvSpPr>
          <p:cNvPr id="45" name="文本框 44"/>
          <p:cNvSpPr txBox="1"/>
          <p:nvPr/>
        </p:nvSpPr>
        <p:spPr>
          <a:xfrm>
            <a:off x="951865" y="917926"/>
            <a:ext cx="6389572" cy="969957"/>
          </a:xfrm>
          <a:prstGeom prst="rect">
            <a:avLst/>
          </a:prstGeom>
          <a:noFill/>
        </p:spPr>
        <p:txBody>
          <a:bodyPr wrap="square" rtlCol="0">
            <a:noAutofit/>
          </a:bodyPr>
          <a:lstStyle/>
          <a:p>
            <a:pPr indent="457200" algn="just" fontAlgn="auto">
              <a:lnSpc>
                <a:spcPct val="150000"/>
              </a:lnSpc>
              <a:spcBef>
                <a:spcPts val="375"/>
              </a:spcBef>
              <a:defRPr/>
            </a:pPr>
            <a:endParaRPr lang="en-US" sz="1500" dirty="0">
              <a:solidFill>
                <a:schemeClr val="dk1">
                  <a:alpha val="100000"/>
                </a:schemeClr>
              </a:solidFill>
              <a:latin typeface="微软雅黑" panose="020B0503020204020204" charset="-122"/>
              <a:ea typeface="微软雅黑" panose="020B0503020204020204" charset="-122"/>
            </a:endParaRPr>
          </a:p>
        </p:txBody>
      </p:sp>
      <p:sp>
        <p:nvSpPr>
          <p:cNvPr id="4" name="Rectangle 2"/>
          <p:cNvSpPr>
            <a:spLocks noChangeArrowheads="1"/>
          </p:cNvSpPr>
          <p:nvPr/>
        </p:nvSpPr>
        <p:spPr bwMode="auto">
          <a:xfrm>
            <a:off x="829624" y="3554119"/>
            <a:ext cx="1167288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endParaRPr lang="zh-CN" altLang="en-US"/>
          </a:p>
        </p:txBody>
      </p:sp>
      <p:pic>
        <p:nvPicPr>
          <p:cNvPr id="10" name="图片 9"/>
          <p:cNvPicPr>
            <a:picLocks noChangeAspect="1"/>
          </p:cNvPicPr>
          <p:nvPr/>
        </p:nvPicPr>
        <p:blipFill>
          <a:blip r:embed="rId2"/>
          <a:stretch>
            <a:fillRect/>
          </a:stretch>
        </p:blipFill>
        <p:spPr>
          <a:xfrm>
            <a:off x="454963" y="1016044"/>
            <a:ext cx="6574719" cy="5421930"/>
          </a:xfrm>
          <a:prstGeom prst="rect">
            <a:avLst/>
          </a:prstGeom>
        </p:spPr>
      </p:pic>
      <p:pic>
        <p:nvPicPr>
          <p:cNvPr id="12" name="图片 11"/>
          <p:cNvPicPr>
            <a:picLocks noChangeAspect="1"/>
          </p:cNvPicPr>
          <p:nvPr/>
        </p:nvPicPr>
        <p:blipFill>
          <a:blip r:embed="rId3"/>
          <a:stretch>
            <a:fillRect/>
          </a:stretch>
        </p:blipFill>
        <p:spPr>
          <a:xfrm>
            <a:off x="6898807" y="3695849"/>
            <a:ext cx="3764712" cy="2609950"/>
          </a:xfrm>
          <a:prstGeom prst="rect">
            <a:avLst/>
          </a:prstGeom>
        </p:spPr>
      </p:pic>
      <p:pic>
        <p:nvPicPr>
          <p:cNvPr id="13" name="图片 12"/>
          <p:cNvPicPr>
            <a:picLocks noChangeAspect="1"/>
          </p:cNvPicPr>
          <p:nvPr/>
        </p:nvPicPr>
        <p:blipFill>
          <a:blip r:embed="rId4"/>
          <a:stretch>
            <a:fillRect/>
          </a:stretch>
        </p:blipFill>
        <p:spPr>
          <a:xfrm>
            <a:off x="6858000" y="984801"/>
            <a:ext cx="3754738" cy="2782923"/>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srcRect/>
          <a:stretch>
            <a:fillRect l="-100" r="-100"/>
          </a:stretch>
        </a:blipFill>
        <a:effectLst/>
      </p:bgPr>
    </p:bg>
    <p:spTree>
      <p:nvGrpSpPr>
        <p:cNvPr id="1" name=""/>
        <p:cNvGrpSpPr/>
        <p:nvPr/>
      </p:nvGrpSpPr>
      <p:grpSpPr>
        <a:xfrm>
          <a:off x="0" y="0"/>
          <a:ext cx="0" cy="0"/>
          <a:chOff x="0" y="0"/>
          <a:chExt cx="0" cy="0"/>
        </a:xfrm>
      </p:grpSpPr>
      <p:sp>
        <p:nvSpPr>
          <p:cNvPr id="4" name="AutoShape 4"/>
          <p:cNvSpPr/>
          <p:nvPr/>
        </p:nvSpPr>
        <p:spPr>
          <a:xfrm>
            <a:off x="3762375" y="1752600"/>
            <a:ext cx="8603615" cy="3124200"/>
          </a:xfrm>
          <a:prstGeom prst="rect">
            <a:avLst/>
          </a:prstGeom>
        </p:spPr>
        <p:txBody>
          <a:bodyPr vert="horz" wrap="square" lIns="85725" tIns="85725" rIns="47625" bIns="85725" rtlCol="0" anchor="ctr" anchorCtr="0">
            <a:noAutofit/>
          </a:bodyPr>
          <a:lstStyle/>
          <a:p>
            <a:pPr algn="ctr">
              <a:lnSpc>
                <a:spcPct val="120000"/>
              </a:lnSpc>
              <a:spcBef>
                <a:spcPts val="375"/>
              </a:spcBef>
              <a:defRPr/>
            </a:pPr>
            <a:r>
              <a:rPr lang="en-US" sz="8000" b="1" dirty="0">
                <a:solidFill>
                  <a:schemeClr val="bg2">
                    <a:alpha val="100000"/>
                  </a:schemeClr>
                </a:solidFill>
                <a:latin typeface="微软雅黑" panose="020B0503020204020204" charset="-122"/>
                <a:ea typeface="微软雅黑" panose="020B0503020204020204" charset="-122"/>
                <a:cs typeface="微软雅黑" panose="020B0503020204020204" charset="-122"/>
              </a:rPr>
              <a:t>THANKS</a:t>
            </a:r>
            <a:endParaRPr lang="en-US" sz="8000" b="1" dirty="0">
              <a:solidFill>
                <a:schemeClr val="bg2">
                  <a:alpha val="100000"/>
                </a:schemeClr>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COMMONDATA" val="eyJoZGlkIjoiNTExNmFiMThlOTgyNDhiYTJmN2Q2ZDMyYjAzNWJjY2YifQ=="/>
</p:tagLst>
</file>

<file path=ppt/theme/theme1.xml><?xml version="1.0" encoding="utf-8"?>
<a:theme xmlns:a="http://schemas.openxmlformats.org/drawingml/2006/main" name="Office Theme">
  <a:themeElements>
    <a:clrScheme name="Office">
      <a:dk1>
        <a:srgbClr val="000000"/>
      </a:dk1>
      <a:lt1>
        <a:srgbClr val="EFFFFD"/>
      </a:lt1>
      <a:dk2>
        <a:srgbClr val="003C35"/>
      </a:dk2>
      <a:lt2>
        <a:srgbClr val="FFFFFF"/>
      </a:lt2>
      <a:accent1>
        <a:srgbClr val="00A5B2"/>
      </a:accent1>
      <a:accent2>
        <a:srgbClr val="52C6B8"/>
      </a:accent2>
      <a:accent3>
        <a:srgbClr val="00657D"/>
      </a:accent3>
      <a:accent4>
        <a:srgbClr val="58C19B"/>
      </a:accent4>
      <a:accent5>
        <a:srgbClr val="6DD690"/>
      </a:accent5>
      <a:accent6>
        <a:srgbClr val="9CCAFF"/>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838</Words>
  <Application>WPS 演示</Application>
  <PresentationFormat>宽屏</PresentationFormat>
  <Paragraphs>70</Paragraphs>
  <Slides>11</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11</vt:i4>
      </vt:variant>
    </vt:vector>
  </HeadingPairs>
  <TitlesOfParts>
    <vt:vector size="19" baseType="lpstr">
      <vt:lpstr>Arial</vt:lpstr>
      <vt:lpstr>宋体</vt:lpstr>
      <vt:lpstr>Wingdings</vt:lpstr>
      <vt:lpstr>微软雅黑</vt:lpstr>
      <vt:lpstr>Arial</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冯莉珺</cp:lastModifiedBy>
  <cp:revision>16</cp:revision>
  <dcterms:created xsi:type="dcterms:W3CDTF">2006-08-16T00:00:00Z</dcterms:created>
  <dcterms:modified xsi:type="dcterms:W3CDTF">2026-09-03T07:41:28Z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6D41E437D19C41DFB5D535FB90385530_13</vt:lpwstr>
  </property>
  <property fmtid="{D5CDD505-2E9C-101B-9397-08002B2CF9AE}" pid="3" name="KSOProductBuildVer">
    <vt:lpwstr>2052-12.1.0.28043</vt:lpwstr>
  </property>
</Properties>
</file>